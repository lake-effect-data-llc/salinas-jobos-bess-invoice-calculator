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sldIdLst>
    <p:sldId id="2142535153" r:id="rId5"/>
    <p:sldId id="2142535233" r:id="rId6"/>
    <p:sldId id="2142535154" r:id="rId7"/>
    <p:sldId id="2142535218" r:id="rId8"/>
    <p:sldId id="2142535201" r:id="rId9"/>
    <p:sldId id="2142535207" r:id="rId10"/>
    <p:sldId id="2142535206" r:id="rId11"/>
    <p:sldId id="2142535209" r:id="rId12"/>
    <p:sldId id="2142535208" r:id="rId13"/>
    <p:sldId id="2142535210" r:id="rId14"/>
    <p:sldId id="2142535211" r:id="rId15"/>
    <p:sldId id="2142535234" r:id="rId16"/>
    <p:sldId id="2142535212" r:id="rId17"/>
    <p:sldId id="2142535213" r:id="rId18"/>
    <p:sldId id="2142535214" r:id="rId19"/>
    <p:sldId id="2142535235" r:id="rId20"/>
    <p:sldId id="2142535215" r:id="rId21"/>
    <p:sldId id="2142535216" r:id="rId22"/>
    <p:sldId id="2142535236" r:id="rId23"/>
    <p:sldId id="2142535188" r:id="rId24"/>
    <p:sldId id="2142535239" r:id="rId25"/>
    <p:sldId id="2142535219" r:id="rId26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58EA2A-9B56-1EB2-29A2-7FF941AD008D}" name="Engbloom, Ashley" initials="EA" userId="S::Ashley.Engbloom@atco.com::f546639f-2561-47f4-87a8-10a9c8ca088e" providerId="AD"/>
  <p188:author id="{CA4D444A-7979-5F86-3D79-888A65C9164A}" name="Joseph Lopez" initials="JL" userId="S::Joseph.Lopez@Lumapr.com::6b5810cd-af84-4059-94d6-00c5ca2c92d2" providerId="AD"/>
  <p188:author id="{76CA37D9-D20B-C17A-85B9-2339A085270C}" name="Joseph Wargel" initials="JW" userId="S::Joseph.Wargel@Lumapr.com::f5a2458e-360b-4833-be4c-d5adfc2aec4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rtado, Mario" initials="HM" lastIdx="5" clrIdx="0">
    <p:extLst>
      <p:ext uri="{19B8F6BF-5375-455C-9EA6-DF929625EA0E}">
        <p15:presenceInfo xmlns:p15="http://schemas.microsoft.com/office/powerpoint/2012/main" userId="S::mhurtado@quantaservices.com::2d10f774-9847-4f53-9e94-8140364192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9130"/>
    <a:srgbClr val="86C041"/>
    <a:srgbClr val="436120"/>
    <a:srgbClr val="0956DF"/>
    <a:srgbClr val="000000"/>
    <a:srgbClr val="17214C"/>
    <a:srgbClr val="5B9BD5"/>
    <a:srgbClr val="1B275B"/>
    <a:srgbClr val="031E4E"/>
    <a:srgbClr val="031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C154B-1676-494A-A718-92ADCB3F812D}" v="66" dt="2026-05-27T16:16:59.083"/>
    <p1510:client id="{60E864B5-D9A0-4C60-8765-88B0127BD382}" v="2" dt="2026-05-27T16:17:11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 Bickings" userId="d6a469db-b7fe-4fc6-b8f3-4252c933197f" providerId="ADAL" clId="{0F1FB701-85D1-476E-9033-6EBCD51ABB9D}"/>
    <pc:docChg chg="undo custSel modSld">
      <pc:chgData name="Hal Bickings" userId="d6a469db-b7fe-4fc6-b8f3-4252c933197f" providerId="ADAL" clId="{0F1FB701-85D1-476E-9033-6EBCD51ABB9D}" dt="2026-05-27T16:17:11.502" v="300" actId="14100"/>
      <pc:docMkLst>
        <pc:docMk/>
      </pc:docMkLst>
      <pc:sldChg chg="modSp mod">
        <pc:chgData name="Hal Bickings" userId="d6a469db-b7fe-4fc6-b8f3-4252c933197f" providerId="ADAL" clId="{0F1FB701-85D1-476E-9033-6EBCD51ABB9D}" dt="2026-05-26T23:50:37.150" v="281" actId="120"/>
        <pc:sldMkLst>
          <pc:docMk/>
          <pc:sldMk cId="1418709979" sldId="2142535188"/>
        </pc:sldMkLst>
        <pc:graphicFrameChg chg="modGraphic">
          <ac:chgData name="Hal Bickings" userId="d6a469db-b7fe-4fc6-b8f3-4252c933197f" providerId="ADAL" clId="{0F1FB701-85D1-476E-9033-6EBCD51ABB9D}" dt="2026-05-26T23:50:37.150" v="281" actId="120"/>
          <ac:graphicFrameMkLst>
            <pc:docMk/>
            <pc:sldMk cId="1418709979" sldId="2142535188"/>
            <ac:graphicFrameMk id="9" creationId="{CDF666D4-C1F1-601D-3B7E-F84681DE5561}"/>
          </ac:graphicFrameMkLst>
        </pc:graphicFrameChg>
      </pc:sldChg>
      <pc:sldChg chg="modSp mod">
        <pc:chgData name="Hal Bickings" userId="d6a469db-b7fe-4fc6-b8f3-4252c933197f" providerId="ADAL" clId="{0F1FB701-85D1-476E-9033-6EBCD51ABB9D}" dt="2026-05-26T23:47:26.292" v="253" actId="1076"/>
        <pc:sldMkLst>
          <pc:docMk/>
          <pc:sldMk cId="251692587" sldId="2142535201"/>
        </pc:sldMkLst>
        <pc:spChg chg="mod">
          <ac:chgData name="Hal Bickings" userId="d6a469db-b7fe-4fc6-b8f3-4252c933197f" providerId="ADAL" clId="{0F1FB701-85D1-476E-9033-6EBCD51ABB9D}" dt="2026-05-26T23:47:26.292" v="253" actId="1076"/>
          <ac:spMkLst>
            <pc:docMk/>
            <pc:sldMk cId="251692587" sldId="2142535201"/>
            <ac:spMk id="6" creationId="{24A4ABAE-1983-F7EE-D81D-52EC09E54A85}"/>
          </ac:spMkLst>
        </pc:spChg>
      </pc:sldChg>
      <pc:sldChg chg="modSp mod">
        <pc:chgData name="Hal Bickings" userId="d6a469db-b7fe-4fc6-b8f3-4252c933197f" providerId="ADAL" clId="{0F1FB701-85D1-476E-9033-6EBCD51ABB9D}" dt="2026-05-26T23:47:48.618" v="257" actId="1076"/>
        <pc:sldMkLst>
          <pc:docMk/>
          <pc:sldMk cId="1907531499" sldId="2142535206"/>
        </pc:sldMkLst>
        <pc:spChg chg="mod">
          <ac:chgData name="Hal Bickings" userId="d6a469db-b7fe-4fc6-b8f3-4252c933197f" providerId="ADAL" clId="{0F1FB701-85D1-476E-9033-6EBCD51ABB9D}" dt="2026-05-26T23:47:48.618" v="257" actId="1076"/>
          <ac:spMkLst>
            <pc:docMk/>
            <pc:sldMk cId="1907531499" sldId="2142535206"/>
            <ac:spMk id="8" creationId="{6E75057B-7BE2-65B9-6FA0-567D14442AA7}"/>
          </ac:spMkLst>
        </pc:spChg>
      </pc:sldChg>
      <pc:sldChg chg="modSp mod">
        <pc:chgData name="Hal Bickings" userId="d6a469db-b7fe-4fc6-b8f3-4252c933197f" providerId="ADAL" clId="{0F1FB701-85D1-476E-9033-6EBCD51ABB9D}" dt="2026-05-26T23:47:42.557" v="256" actId="14100"/>
        <pc:sldMkLst>
          <pc:docMk/>
          <pc:sldMk cId="2767562139" sldId="2142535207"/>
        </pc:sldMkLst>
        <pc:spChg chg="mod">
          <ac:chgData name="Hal Bickings" userId="d6a469db-b7fe-4fc6-b8f3-4252c933197f" providerId="ADAL" clId="{0F1FB701-85D1-476E-9033-6EBCD51ABB9D}" dt="2026-05-26T23:47:33.762" v="254" actId="1076"/>
          <ac:spMkLst>
            <pc:docMk/>
            <pc:sldMk cId="2767562139" sldId="2142535207"/>
            <ac:spMk id="3" creationId="{B1DB8ACE-CE76-E6C9-A576-E3302BC11DE3}"/>
          </ac:spMkLst>
        </pc:spChg>
        <pc:spChg chg="mod">
          <ac:chgData name="Hal Bickings" userId="d6a469db-b7fe-4fc6-b8f3-4252c933197f" providerId="ADAL" clId="{0F1FB701-85D1-476E-9033-6EBCD51ABB9D}" dt="2026-05-26T23:47:42.557" v="256" actId="14100"/>
          <ac:spMkLst>
            <pc:docMk/>
            <pc:sldMk cId="2767562139" sldId="2142535207"/>
            <ac:spMk id="7" creationId="{D09B5EF8-0FC8-D186-80B2-C69629A8F37D}"/>
          </ac:spMkLst>
        </pc:spChg>
      </pc:sldChg>
      <pc:sldChg chg="modSp mod">
        <pc:chgData name="Hal Bickings" userId="d6a469db-b7fe-4fc6-b8f3-4252c933197f" providerId="ADAL" clId="{0F1FB701-85D1-476E-9033-6EBCD51ABB9D}" dt="2026-05-26T23:52:10.648" v="287" actId="12"/>
        <pc:sldMkLst>
          <pc:docMk/>
          <pc:sldMk cId="3438354773" sldId="2142535208"/>
        </pc:sldMkLst>
        <pc:spChg chg="mod">
          <ac:chgData name="Hal Bickings" userId="d6a469db-b7fe-4fc6-b8f3-4252c933197f" providerId="ADAL" clId="{0F1FB701-85D1-476E-9033-6EBCD51ABB9D}" dt="2026-05-26T23:52:10.648" v="287" actId="12"/>
          <ac:spMkLst>
            <pc:docMk/>
            <pc:sldMk cId="3438354773" sldId="2142535208"/>
            <ac:spMk id="6" creationId="{9F8206CF-B37E-4282-C280-852F624C8693}"/>
          </ac:spMkLst>
        </pc:spChg>
      </pc:sldChg>
      <pc:sldChg chg="modSp mod">
        <pc:chgData name="Hal Bickings" userId="d6a469db-b7fe-4fc6-b8f3-4252c933197f" providerId="ADAL" clId="{0F1FB701-85D1-476E-9033-6EBCD51ABB9D}" dt="2026-05-26T23:48:04.615" v="260" actId="14100"/>
        <pc:sldMkLst>
          <pc:docMk/>
          <pc:sldMk cId="3100213434" sldId="2142535209"/>
        </pc:sldMkLst>
        <pc:spChg chg="mod">
          <ac:chgData name="Hal Bickings" userId="d6a469db-b7fe-4fc6-b8f3-4252c933197f" providerId="ADAL" clId="{0F1FB701-85D1-476E-9033-6EBCD51ABB9D}" dt="2026-05-26T23:47:56.072" v="258" actId="1076"/>
          <ac:spMkLst>
            <pc:docMk/>
            <pc:sldMk cId="3100213434" sldId="2142535209"/>
            <ac:spMk id="10" creationId="{E124CDEA-FD2D-BFBD-C63A-45C900B588B1}"/>
          </ac:spMkLst>
        </pc:spChg>
        <pc:spChg chg="mod">
          <ac:chgData name="Hal Bickings" userId="d6a469db-b7fe-4fc6-b8f3-4252c933197f" providerId="ADAL" clId="{0F1FB701-85D1-476E-9033-6EBCD51ABB9D}" dt="2026-05-26T23:48:04.615" v="260" actId="14100"/>
          <ac:spMkLst>
            <pc:docMk/>
            <pc:sldMk cId="3100213434" sldId="2142535209"/>
            <ac:spMk id="11" creationId="{FE59DBE1-7BAB-4792-0A85-CCC848BACBEA}"/>
          </ac:spMkLst>
        </pc:spChg>
      </pc:sldChg>
      <pc:sldChg chg="modSp mod">
        <pc:chgData name="Hal Bickings" userId="d6a469db-b7fe-4fc6-b8f3-4252c933197f" providerId="ADAL" clId="{0F1FB701-85D1-476E-9033-6EBCD51ABB9D}" dt="2026-05-26T23:48:50.814" v="267" actId="14100"/>
        <pc:sldMkLst>
          <pc:docMk/>
          <pc:sldMk cId="4106202320" sldId="2142535210"/>
        </pc:sldMkLst>
        <pc:spChg chg="mod">
          <ac:chgData name="Hal Bickings" userId="d6a469db-b7fe-4fc6-b8f3-4252c933197f" providerId="ADAL" clId="{0F1FB701-85D1-476E-9033-6EBCD51ABB9D}" dt="2026-05-26T23:48:42.769" v="265" actId="1076"/>
          <ac:spMkLst>
            <pc:docMk/>
            <pc:sldMk cId="4106202320" sldId="2142535210"/>
            <ac:spMk id="3" creationId="{E02F3B7A-B28D-4D3D-036F-5D2D3E36CCD4}"/>
          </ac:spMkLst>
        </pc:spChg>
        <pc:spChg chg="mod">
          <ac:chgData name="Hal Bickings" userId="d6a469db-b7fe-4fc6-b8f3-4252c933197f" providerId="ADAL" clId="{0F1FB701-85D1-476E-9033-6EBCD51ABB9D}" dt="2026-05-26T23:48:50.814" v="267" actId="14100"/>
          <ac:spMkLst>
            <pc:docMk/>
            <pc:sldMk cId="4106202320" sldId="2142535210"/>
            <ac:spMk id="6" creationId="{60874F7B-4B85-B435-8227-C4ED141C1BCB}"/>
          </ac:spMkLst>
        </pc:spChg>
      </pc:sldChg>
      <pc:sldChg chg="modSp mod">
        <pc:chgData name="Hal Bickings" userId="d6a469db-b7fe-4fc6-b8f3-4252c933197f" providerId="ADAL" clId="{0F1FB701-85D1-476E-9033-6EBCD51ABB9D}" dt="2026-05-26T23:52:20.344" v="291" actId="5793"/>
        <pc:sldMkLst>
          <pc:docMk/>
          <pc:sldMk cId="3859079858" sldId="2142535211"/>
        </pc:sldMkLst>
        <pc:spChg chg="mod">
          <ac:chgData name="Hal Bickings" userId="d6a469db-b7fe-4fc6-b8f3-4252c933197f" providerId="ADAL" clId="{0F1FB701-85D1-476E-9033-6EBCD51ABB9D}" dt="2026-05-26T23:52:20.344" v="291" actId="5793"/>
          <ac:spMkLst>
            <pc:docMk/>
            <pc:sldMk cId="3859079858" sldId="2142535211"/>
            <ac:spMk id="9" creationId="{8EEFE6C5-D5B1-74ED-13F9-6FC9D94CF94C}"/>
          </ac:spMkLst>
        </pc:spChg>
      </pc:sldChg>
      <pc:sldChg chg="modSp mod">
        <pc:chgData name="Hal Bickings" userId="d6a469db-b7fe-4fc6-b8f3-4252c933197f" providerId="ADAL" clId="{0F1FB701-85D1-476E-9033-6EBCD51ABB9D}" dt="2026-05-26T23:49:42.952" v="275" actId="1076"/>
        <pc:sldMkLst>
          <pc:docMk/>
          <pc:sldMk cId="245476890" sldId="2142535212"/>
        </pc:sldMkLst>
        <pc:spChg chg="mod">
          <ac:chgData name="Hal Bickings" userId="d6a469db-b7fe-4fc6-b8f3-4252c933197f" providerId="ADAL" clId="{0F1FB701-85D1-476E-9033-6EBCD51ABB9D}" dt="2026-05-26T23:49:39.418" v="274" actId="1076"/>
          <ac:spMkLst>
            <pc:docMk/>
            <pc:sldMk cId="245476890" sldId="2142535212"/>
            <ac:spMk id="3" creationId="{50BAE870-1BAB-59BA-6F7F-827BDC24610F}"/>
          </ac:spMkLst>
        </pc:spChg>
        <pc:spChg chg="mod">
          <ac:chgData name="Hal Bickings" userId="d6a469db-b7fe-4fc6-b8f3-4252c933197f" providerId="ADAL" clId="{0F1FB701-85D1-476E-9033-6EBCD51ABB9D}" dt="2026-05-26T23:49:42.952" v="275" actId="1076"/>
          <ac:spMkLst>
            <pc:docMk/>
            <pc:sldMk cId="245476890" sldId="2142535212"/>
            <ac:spMk id="6" creationId="{46CDFD5E-9B1A-6F04-13EB-F719482197AA}"/>
          </ac:spMkLst>
        </pc:spChg>
      </pc:sldChg>
      <pc:sldChg chg="modSp mod">
        <pc:chgData name="Hal Bickings" userId="d6a469db-b7fe-4fc6-b8f3-4252c933197f" providerId="ADAL" clId="{0F1FB701-85D1-476E-9033-6EBCD51ABB9D}" dt="2026-05-26T23:52:59.708" v="298" actId="14734"/>
        <pc:sldMkLst>
          <pc:docMk/>
          <pc:sldMk cId="185436401" sldId="2142535213"/>
        </pc:sldMkLst>
        <pc:graphicFrameChg chg="mod modGraphic">
          <ac:chgData name="Hal Bickings" userId="d6a469db-b7fe-4fc6-b8f3-4252c933197f" providerId="ADAL" clId="{0F1FB701-85D1-476E-9033-6EBCD51ABB9D}" dt="2026-05-26T23:52:59.708" v="298" actId="14734"/>
          <ac:graphicFrameMkLst>
            <pc:docMk/>
            <pc:sldMk cId="185436401" sldId="2142535213"/>
            <ac:graphicFrameMk id="8" creationId="{C46E6A23-8EE0-EFA4-49AC-8A784D17906C}"/>
          </ac:graphicFrameMkLst>
        </pc:graphicFrameChg>
      </pc:sldChg>
      <pc:sldChg chg="modSp mod">
        <pc:chgData name="Hal Bickings" userId="d6a469db-b7fe-4fc6-b8f3-4252c933197f" providerId="ADAL" clId="{0F1FB701-85D1-476E-9033-6EBCD51ABB9D}" dt="2026-05-26T23:50:13.403" v="278" actId="1076"/>
        <pc:sldMkLst>
          <pc:docMk/>
          <pc:sldMk cId="1826651944" sldId="2142535214"/>
        </pc:sldMkLst>
        <pc:spChg chg="mod">
          <ac:chgData name="Hal Bickings" userId="d6a469db-b7fe-4fc6-b8f3-4252c933197f" providerId="ADAL" clId="{0F1FB701-85D1-476E-9033-6EBCD51ABB9D}" dt="2026-05-26T23:50:13.403" v="278" actId="1076"/>
          <ac:spMkLst>
            <pc:docMk/>
            <pc:sldMk cId="1826651944" sldId="2142535214"/>
            <ac:spMk id="3" creationId="{48E2267E-6271-1106-39ED-86A3648F3E0E}"/>
          </ac:spMkLst>
        </pc:spChg>
      </pc:sldChg>
      <pc:sldChg chg="modSp mod">
        <pc:chgData name="Hal Bickings" userId="d6a469db-b7fe-4fc6-b8f3-4252c933197f" providerId="ADAL" clId="{0F1FB701-85D1-476E-9033-6EBCD51ABB9D}" dt="2026-05-26T23:51:32.443" v="283" actId="14100"/>
        <pc:sldMkLst>
          <pc:docMk/>
          <pc:sldMk cId="668175796" sldId="2142535218"/>
        </pc:sldMkLst>
        <pc:spChg chg="mod">
          <ac:chgData name="Hal Bickings" userId="d6a469db-b7fe-4fc6-b8f3-4252c933197f" providerId="ADAL" clId="{0F1FB701-85D1-476E-9033-6EBCD51ABB9D}" dt="2026-05-26T23:51:32.443" v="283" actId="14100"/>
          <ac:spMkLst>
            <pc:docMk/>
            <pc:sldMk cId="668175796" sldId="2142535218"/>
            <ac:spMk id="11" creationId="{136042AE-C9A1-5618-797A-47FC36A8E15A}"/>
          </ac:spMkLst>
        </pc:spChg>
      </pc:sldChg>
      <pc:sldChg chg="modSp mod">
        <pc:chgData name="Hal Bickings" userId="d6a469db-b7fe-4fc6-b8f3-4252c933197f" providerId="ADAL" clId="{0F1FB701-85D1-476E-9033-6EBCD51ABB9D}" dt="2026-05-26T23:50:21.842" v="279" actId="14100"/>
        <pc:sldMkLst>
          <pc:docMk/>
          <pc:sldMk cId="3205100232" sldId="2142535219"/>
        </pc:sldMkLst>
        <pc:spChg chg="mod">
          <ac:chgData name="Hal Bickings" userId="d6a469db-b7fe-4fc6-b8f3-4252c933197f" providerId="ADAL" clId="{0F1FB701-85D1-476E-9033-6EBCD51ABB9D}" dt="2026-05-26T23:50:21.842" v="279" actId="14100"/>
          <ac:spMkLst>
            <pc:docMk/>
            <pc:sldMk cId="3205100232" sldId="2142535219"/>
            <ac:spMk id="8" creationId="{8412E2B7-4237-357F-8E3B-152E9B4C165C}"/>
          </ac:spMkLst>
        </pc:spChg>
      </pc:sldChg>
      <pc:sldChg chg="modSp mod">
        <pc:chgData name="Hal Bickings" userId="d6a469db-b7fe-4fc6-b8f3-4252c933197f" providerId="ADAL" clId="{0F1FB701-85D1-476E-9033-6EBCD51ABB9D}" dt="2026-05-27T00:16:14.740" v="299" actId="6549"/>
        <pc:sldMkLst>
          <pc:docMk/>
          <pc:sldMk cId="1456207473" sldId="2142535233"/>
        </pc:sldMkLst>
        <pc:spChg chg="mod">
          <ac:chgData name="Hal Bickings" userId="d6a469db-b7fe-4fc6-b8f3-4252c933197f" providerId="ADAL" clId="{0F1FB701-85D1-476E-9033-6EBCD51ABB9D}" dt="2026-05-27T00:16:14.740" v="299" actId="6549"/>
          <ac:spMkLst>
            <pc:docMk/>
            <pc:sldMk cId="1456207473" sldId="2142535233"/>
            <ac:spMk id="2" creationId="{81744F85-81F4-A32C-30FE-DC3809695213}"/>
          </ac:spMkLst>
        </pc:spChg>
        <pc:spChg chg="mod">
          <ac:chgData name="Hal Bickings" userId="d6a469db-b7fe-4fc6-b8f3-4252c933197f" providerId="ADAL" clId="{0F1FB701-85D1-476E-9033-6EBCD51ABB9D}" dt="2026-05-26T23:47:06.114" v="252" actId="1076"/>
          <ac:spMkLst>
            <pc:docMk/>
            <pc:sldMk cId="1456207473" sldId="2142535233"/>
            <ac:spMk id="8" creationId="{5AEF9E06-21E5-32DD-79DA-CBF28C23DB90}"/>
          </ac:spMkLst>
        </pc:spChg>
      </pc:sldChg>
      <pc:sldChg chg="modSp mod">
        <pc:chgData name="Hal Bickings" userId="d6a469db-b7fe-4fc6-b8f3-4252c933197f" providerId="ADAL" clId="{0F1FB701-85D1-476E-9033-6EBCD51ABB9D}" dt="2026-05-27T16:17:11.502" v="300" actId="14100"/>
        <pc:sldMkLst>
          <pc:docMk/>
          <pc:sldMk cId="930747081" sldId="2142535235"/>
        </pc:sldMkLst>
        <pc:spChg chg="mod">
          <ac:chgData name="Hal Bickings" userId="d6a469db-b7fe-4fc6-b8f3-4252c933197f" providerId="ADAL" clId="{0F1FB701-85D1-476E-9033-6EBCD51ABB9D}" dt="2026-05-27T16:17:11.502" v="300" actId="14100"/>
          <ac:spMkLst>
            <pc:docMk/>
            <pc:sldMk cId="930747081" sldId="2142535235"/>
            <ac:spMk id="5" creationId="{BDEF573D-A754-C644-A563-941F5CE3627C}"/>
          </ac:spMkLst>
        </pc:spChg>
      </pc:sldChg>
    </pc:docChg>
  </pc:docChgLst>
  <pc:docChgLst>
    <pc:chgData name="Sam Buck" userId="bc3bb9b3-aaed-4fca-b07d-28c7a5fc59f4" providerId="ADAL" clId="{BA8E32C1-7A7B-4F29-A846-F98F4CEE6290}"/>
    <pc:docChg chg="undo redo custSel addSld delSld modSld sldOrd addMainMaster delMainMaster modMainMaster">
      <pc:chgData name="Sam Buck" userId="bc3bb9b3-aaed-4fca-b07d-28c7a5fc59f4" providerId="ADAL" clId="{BA8E32C1-7A7B-4F29-A846-F98F4CEE6290}" dt="2026-05-28T12:53:58.838" v="1018" actId="20577"/>
      <pc:docMkLst>
        <pc:docMk/>
      </pc:docMkLst>
      <pc:sldChg chg="add del">
        <pc:chgData name="Sam Buck" userId="bc3bb9b3-aaed-4fca-b07d-28c7a5fc59f4" providerId="ADAL" clId="{BA8E32C1-7A7B-4F29-A846-F98F4CEE6290}" dt="2026-05-27T15:16:01.939" v="971" actId="2696"/>
        <pc:sldMkLst>
          <pc:docMk/>
          <pc:sldMk cId="0" sldId="259"/>
        </pc:sldMkLst>
      </pc:sldChg>
      <pc:sldChg chg="add del">
        <pc:chgData name="Sam Buck" userId="bc3bb9b3-aaed-4fca-b07d-28c7a5fc59f4" providerId="ADAL" clId="{BA8E32C1-7A7B-4F29-A846-F98F4CEE6290}" dt="2026-05-27T15:16:03.605" v="972" actId="2696"/>
        <pc:sldMkLst>
          <pc:docMk/>
          <pc:sldMk cId="0" sldId="261"/>
        </pc:sldMkLst>
      </pc:sldChg>
      <pc:sldChg chg="add del">
        <pc:chgData name="Sam Buck" userId="bc3bb9b3-aaed-4fca-b07d-28c7a5fc59f4" providerId="ADAL" clId="{BA8E32C1-7A7B-4F29-A846-F98F4CEE6290}" dt="2026-05-27T15:15:58.176" v="969" actId="2696"/>
        <pc:sldMkLst>
          <pc:docMk/>
          <pc:sldMk cId="0" sldId="263"/>
        </pc:sldMkLst>
      </pc:sldChg>
      <pc:sldChg chg="add del">
        <pc:chgData name="Sam Buck" userId="bc3bb9b3-aaed-4fca-b07d-28c7a5fc59f4" providerId="ADAL" clId="{BA8E32C1-7A7B-4F29-A846-F98F4CEE6290}" dt="2026-05-27T15:15:59.918" v="970" actId="2696"/>
        <pc:sldMkLst>
          <pc:docMk/>
          <pc:sldMk cId="0" sldId="265"/>
        </pc:sldMkLst>
      </pc:sldChg>
      <pc:sldChg chg="modSp mod">
        <pc:chgData name="Sam Buck" userId="bc3bb9b3-aaed-4fca-b07d-28c7a5fc59f4" providerId="ADAL" clId="{BA8E32C1-7A7B-4F29-A846-F98F4CEE6290}" dt="2026-05-28T12:53:58.838" v="1018" actId="20577"/>
        <pc:sldMkLst>
          <pc:docMk/>
          <pc:sldMk cId="2056528516" sldId="2142535153"/>
        </pc:sldMkLst>
        <pc:spChg chg="mod">
          <ac:chgData name="Sam Buck" userId="bc3bb9b3-aaed-4fca-b07d-28c7a5fc59f4" providerId="ADAL" clId="{BA8E32C1-7A7B-4F29-A846-F98F4CEE6290}" dt="2026-05-28T12:53:58.838" v="1018" actId="20577"/>
          <ac:spMkLst>
            <pc:docMk/>
            <pc:sldMk cId="2056528516" sldId="2142535153"/>
            <ac:spMk id="2" creationId="{4CE21EAA-CFA9-2B45-8DD0-3802B9265D26}"/>
          </ac:spMkLst>
        </pc:spChg>
      </pc:sldChg>
      <pc:sldChg chg="modSp mod">
        <pc:chgData name="Sam Buck" userId="bc3bb9b3-aaed-4fca-b07d-28c7a5fc59f4" providerId="ADAL" clId="{BA8E32C1-7A7B-4F29-A846-F98F4CEE6290}" dt="2026-05-26T17:50:00.570" v="93" actId="20577"/>
        <pc:sldMkLst>
          <pc:docMk/>
          <pc:sldMk cId="497721683" sldId="2142535154"/>
        </pc:sldMkLst>
        <pc:spChg chg="mod">
          <ac:chgData name="Sam Buck" userId="bc3bb9b3-aaed-4fca-b07d-28c7a5fc59f4" providerId="ADAL" clId="{BA8E32C1-7A7B-4F29-A846-F98F4CEE6290}" dt="2026-05-26T17:50:00.570" v="93" actId="20577"/>
          <ac:spMkLst>
            <pc:docMk/>
            <pc:sldMk cId="497721683" sldId="2142535154"/>
            <ac:spMk id="8" creationId="{0EF0FA6B-2CFE-B409-C6AA-82F105EA1356}"/>
          </ac:spMkLst>
        </pc:spChg>
      </pc:sldChg>
      <pc:sldChg chg="modSp del mod">
        <pc:chgData name="Sam Buck" userId="bc3bb9b3-aaed-4fca-b07d-28c7a5fc59f4" providerId="ADAL" clId="{BA8E32C1-7A7B-4F29-A846-F98F4CEE6290}" dt="2026-05-27T15:21:45.628" v="988"/>
        <pc:sldMkLst>
          <pc:docMk/>
          <pc:sldMk cId="1629768234" sldId="2142535217"/>
        </pc:sldMkLst>
        <pc:spChg chg="mod">
          <ac:chgData name="Sam Buck" userId="bc3bb9b3-aaed-4fca-b07d-28c7a5fc59f4" providerId="ADAL" clId="{BA8E32C1-7A7B-4F29-A846-F98F4CEE6290}" dt="2026-05-27T15:09:10.294" v="964" actId="20577"/>
          <ac:spMkLst>
            <pc:docMk/>
            <pc:sldMk cId="1629768234" sldId="2142535217"/>
            <ac:spMk id="2" creationId="{AB7F067E-1458-822C-4D7E-E70798CDEAB4}"/>
          </ac:spMkLst>
        </pc:spChg>
        <pc:spChg chg="mod">
          <ac:chgData name="Sam Buck" userId="bc3bb9b3-aaed-4fca-b07d-28c7a5fc59f4" providerId="ADAL" clId="{BA8E32C1-7A7B-4F29-A846-F98F4CEE6290}" dt="2026-05-27T14:47:43.700" v="903" actId="20577"/>
          <ac:spMkLst>
            <pc:docMk/>
            <pc:sldMk cId="1629768234" sldId="2142535217"/>
            <ac:spMk id="6" creationId="{225C94C4-EE3F-0406-9473-7E48E75FBB20}"/>
          </ac:spMkLst>
        </pc:spChg>
        <pc:spChg chg="mod">
          <ac:chgData name="Sam Buck" userId="bc3bb9b3-aaed-4fca-b07d-28c7a5fc59f4" providerId="ADAL" clId="{BA8E32C1-7A7B-4F29-A846-F98F4CEE6290}" dt="2026-05-27T14:47:36.491" v="900" actId="20577"/>
          <ac:spMkLst>
            <pc:docMk/>
            <pc:sldMk cId="1629768234" sldId="2142535217"/>
            <ac:spMk id="7" creationId="{950D8BB6-AB4F-7429-731D-DB825E33F96E}"/>
          </ac:spMkLst>
        </pc:spChg>
        <pc:spChg chg="mod">
          <ac:chgData name="Sam Buck" userId="bc3bb9b3-aaed-4fca-b07d-28c7a5fc59f4" providerId="ADAL" clId="{BA8E32C1-7A7B-4F29-A846-F98F4CEE6290}" dt="2026-05-27T14:47:54.156" v="910" actId="20577"/>
          <ac:spMkLst>
            <pc:docMk/>
            <pc:sldMk cId="1629768234" sldId="2142535217"/>
            <ac:spMk id="8" creationId="{00278F13-DFDA-F9A8-27CC-89F3FDA8A54A}"/>
          </ac:spMkLst>
        </pc:spChg>
        <pc:spChg chg="mod">
          <ac:chgData name="Sam Buck" userId="bc3bb9b3-aaed-4fca-b07d-28c7a5fc59f4" providerId="ADAL" clId="{BA8E32C1-7A7B-4F29-A846-F98F4CEE6290}" dt="2026-05-27T14:48:01.760" v="916" actId="20577"/>
          <ac:spMkLst>
            <pc:docMk/>
            <pc:sldMk cId="1629768234" sldId="2142535217"/>
            <ac:spMk id="10" creationId="{D40D91BF-D94C-2D64-1D5B-3186A66095A7}"/>
          </ac:spMkLst>
        </pc:spChg>
      </pc:sldChg>
      <pc:sldChg chg="modSp mod">
        <pc:chgData name="Sam Buck" userId="bc3bb9b3-aaed-4fca-b07d-28c7a5fc59f4" providerId="ADAL" clId="{BA8E32C1-7A7B-4F29-A846-F98F4CEE6290}" dt="2026-05-26T17:58:00.967" v="838" actId="20577"/>
        <pc:sldMkLst>
          <pc:docMk/>
          <pc:sldMk cId="3205100232" sldId="2142535219"/>
        </pc:sldMkLst>
        <pc:spChg chg="mod">
          <ac:chgData name="Sam Buck" userId="bc3bb9b3-aaed-4fca-b07d-28c7a5fc59f4" providerId="ADAL" clId="{BA8E32C1-7A7B-4F29-A846-F98F4CEE6290}" dt="2026-05-26T17:58:00.967" v="838" actId="20577"/>
          <ac:spMkLst>
            <pc:docMk/>
            <pc:sldMk cId="3205100232" sldId="2142535219"/>
            <ac:spMk id="8" creationId="{8412E2B7-4237-357F-8E3B-152E9B4C165C}"/>
          </ac:spMkLst>
        </pc:spChg>
      </pc:sldChg>
      <pc:sldChg chg="modSp add del mod">
        <pc:chgData name="Sam Buck" userId="bc3bb9b3-aaed-4fca-b07d-28c7a5fc59f4" providerId="ADAL" clId="{BA8E32C1-7A7B-4F29-A846-F98F4CEE6290}" dt="2026-05-27T15:19:24.202" v="978"/>
        <pc:sldMkLst>
          <pc:docMk/>
          <pc:sldMk cId="656629473" sldId="2142535223"/>
        </pc:sldMkLst>
        <pc:spChg chg="mod">
          <ac:chgData name="Sam Buck" userId="bc3bb9b3-aaed-4fca-b07d-28c7a5fc59f4" providerId="ADAL" clId="{BA8E32C1-7A7B-4F29-A846-F98F4CEE6290}" dt="2026-05-27T14:48:31.805" v="933" actId="20577"/>
          <ac:spMkLst>
            <pc:docMk/>
            <pc:sldMk cId="656629473" sldId="2142535223"/>
            <ac:spMk id="3" creationId="{48E2267E-6271-1106-39ED-86A3648F3E0E}"/>
          </ac:spMkLst>
        </pc:spChg>
        <pc:spChg chg="mod">
          <ac:chgData name="Sam Buck" userId="bc3bb9b3-aaed-4fca-b07d-28c7a5fc59f4" providerId="ADAL" clId="{BA8E32C1-7A7B-4F29-A846-F98F4CEE6290}" dt="2026-05-27T14:48:42.251" v="941" actId="20577"/>
          <ac:spMkLst>
            <pc:docMk/>
            <pc:sldMk cId="656629473" sldId="2142535223"/>
            <ac:spMk id="5" creationId="{BDEF573D-A754-C644-A563-941F5CE3627C}"/>
          </ac:spMkLst>
        </pc:spChg>
      </pc:sldChg>
      <pc:sldChg chg="modSp add del mod">
        <pc:chgData name="Sam Buck" userId="bc3bb9b3-aaed-4fca-b07d-28c7a5fc59f4" providerId="ADAL" clId="{BA8E32C1-7A7B-4F29-A846-F98F4CEE6290}" dt="2026-05-27T15:20:21.441" v="983"/>
        <pc:sldMkLst>
          <pc:docMk/>
          <pc:sldMk cId="3247874003" sldId="2142535227"/>
        </pc:sldMkLst>
      </pc:sldChg>
      <pc:sldChg chg="modSp add del mod">
        <pc:chgData name="Sam Buck" userId="bc3bb9b3-aaed-4fca-b07d-28c7a5fc59f4" providerId="ADAL" clId="{BA8E32C1-7A7B-4F29-A846-F98F4CEE6290}" dt="2026-05-27T15:18:40.562" v="974"/>
        <pc:sldMkLst>
          <pc:docMk/>
          <pc:sldMk cId="3397910837" sldId="2142535231"/>
        </pc:sldMkLst>
        <pc:spChg chg="mod">
          <ac:chgData name="Sam Buck" userId="bc3bb9b3-aaed-4fca-b07d-28c7a5fc59f4" providerId="ADAL" clId="{BA8E32C1-7A7B-4F29-A846-F98F4CEE6290}" dt="2026-05-27T14:49:21.811" v="958" actId="20577"/>
          <ac:spMkLst>
            <pc:docMk/>
            <pc:sldMk cId="3397910837" sldId="2142535231"/>
            <ac:spMk id="3" creationId="{48E2267E-6271-1106-39ED-86A3648F3E0E}"/>
          </ac:spMkLst>
        </pc:spChg>
        <pc:spChg chg="mod">
          <ac:chgData name="Sam Buck" userId="bc3bb9b3-aaed-4fca-b07d-28c7a5fc59f4" providerId="ADAL" clId="{BA8E32C1-7A7B-4F29-A846-F98F4CEE6290}" dt="2026-05-27T14:48:57.157" v="946" actId="20577"/>
          <ac:spMkLst>
            <pc:docMk/>
            <pc:sldMk cId="3397910837" sldId="2142535231"/>
            <ac:spMk id="5" creationId="{BDEF573D-A754-C644-A563-941F5CE3627C}"/>
          </ac:spMkLst>
        </pc:spChg>
      </pc:sldChg>
      <pc:sldChg chg="modSp add mod">
        <pc:chgData name="Sam Buck" userId="bc3bb9b3-aaed-4fca-b07d-28c7a5fc59f4" providerId="ADAL" clId="{BA8E32C1-7A7B-4F29-A846-F98F4CEE6290}" dt="2026-05-26T18:10:30.501" v="888" actId="12"/>
        <pc:sldMkLst>
          <pc:docMk/>
          <pc:sldMk cId="1456207473" sldId="2142535233"/>
        </pc:sldMkLst>
        <pc:spChg chg="mod">
          <ac:chgData name="Sam Buck" userId="bc3bb9b3-aaed-4fca-b07d-28c7a5fc59f4" providerId="ADAL" clId="{BA8E32C1-7A7B-4F29-A846-F98F4CEE6290}" dt="2026-05-26T18:10:30.501" v="888" actId="12"/>
          <ac:spMkLst>
            <pc:docMk/>
            <pc:sldMk cId="1456207473" sldId="2142535233"/>
            <ac:spMk id="8" creationId="{5AEF9E06-21E5-32DD-79DA-CBF28C23DB90}"/>
          </ac:spMkLst>
        </pc:spChg>
      </pc:sldChg>
      <pc:sldChg chg="new del">
        <pc:chgData name="Sam Buck" userId="bc3bb9b3-aaed-4fca-b07d-28c7a5fc59f4" providerId="ADAL" clId="{BA8E32C1-7A7B-4F29-A846-F98F4CEE6290}" dt="2026-05-27T14:32:47.247" v="890" actId="680"/>
        <pc:sldMkLst>
          <pc:docMk/>
          <pc:sldMk cId="634603507" sldId="2142535234"/>
        </pc:sldMkLst>
      </pc:sldChg>
      <pc:sldChg chg="modSp add mod">
        <pc:chgData name="Sam Buck" userId="bc3bb9b3-aaed-4fca-b07d-28c7a5fc59f4" providerId="ADAL" clId="{BA8E32C1-7A7B-4F29-A846-F98F4CEE6290}" dt="2026-05-27T15:18:40.594" v="976"/>
        <pc:sldMkLst>
          <pc:docMk/>
          <pc:sldMk cId="3274843753" sldId="2142535234"/>
        </pc:sldMkLst>
        <pc:spChg chg="mod">
          <ac:chgData name="Sam Buck" userId="bc3bb9b3-aaed-4fca-b07d-28c7a5fc59f4" providerId="ADAL" clId="{BA8E32C1-7A7B-4F29-A846-F98F4CEE6290}" dt="2026-05-27T15:18:40.593" v="975"/>
          <ac:spMkLst>
            <pc:docMk/>
            <pc:sldMk cId="3274843753" sldId="2142535234"/>
            <ac:spMk id="3" creationId="{48E2267E-6271-1106-39ED-86A3648F3E0E}"/>
          </ac:spMkLst>
        </pc:spChg>
        <pc:spChg chg="mod">
          <ac:chgData name="Sam Buck" userId="bc3bb9b3-aaed-4fca-b07d-28c7a5fc59f4" providerId="ADAL" clId="{BA8E32C1-7A7B-4F29-A846-F98F4CEE6290}" dt="2026-05-27T15:18:40.594" v="976"/>
          <ac:spMkLst>
            <pc:docMk/>
            <pc:sldMk cId="3274843753" sldId="2142535234"/>
            <ac:spMk id="5" creationId="{BDEF573D-A754-C644-A563-941F5CE3627C}"/>
          </ac:spMkLst>
        </pc:spChg>
      </pc:sldChg>
      <pc:sldChg chg="modSp add mod">
        <pc:chgData name="Sam Buck" userId="bc3bb9b3-aaed-4fca-b07d-28c7a5fc59f4" providerId="ADAL" clId="{BA8E32C1-7A7B-4F29-A846-F98F4CEE6290}" dt="2026-05-27T15:19:24.225" v="981"/>
        <pc:sldMkLst>
          <pc:docMk/>
          <pc:sldMk cId="930747081" sldId="2142535235"/>
        </pc:sldMkLst>
        <pc:spChg chg="mod">
          <ac:chgData name="Sam Buck" userId="bc3bb9b3-aaed-4fca-b07d-28c7a5fc59f4" providerId="ADAL" clId="{BA8E32C1-7A7B-4F29-A846-F98F4CEE6290}" dt="2026-05-27T15:19:24.224" v="979"/>
          <ac:spMkLst>
            <pc:docMk/>
            <pc:sldMk cId="930747081" sldId="2142535235"/>
            <ac:spMk id="3" creationId="{48E2267E-6271-1106-39ED-86A3648F3E0E}"/>
          </ac:spMkLst>
        </pc:spChg>
        <pc:spChg chg="mod">
          <ac:chgData name="Sam Buck" userId="bc3bb9b3-aaed-4fca-b07d-28c7a5fc59f4" providerId="ADAL" clId="{BA8E32C1-7A7B-4F29-A846-F98F4CEE6290}" dt="2026-05-27T15:19:24.225" v="981"/>
          <ac:spMkLst>
            <pc:docMk/>
            <pc:sldMk cId="930747081" sldId="2142535235"/>
            <ac:spMk id="5" creationId="{BDEF573D-A754-C644-A563-941F5CE3627C}"/>
          </ac:spMkLst>
        </pc:spChg>
      </pc:sldChg>
      <pc:sldChg chg="modSp add mod">
        <pc:chgData name="Sam Buck" userId="bc3bb9b3-aaed-4fca-b07d-28c7a5fc59f4" providerId="ADAL" clId="{BA8E32C1-7A7B-4F29-A846-F98F4CEE6290}" dt="2026-05-27T15:20:21.963" v="986"/>
        <pc:sldMkLst>
          <pc:docMk/>
          <pc:sldMk cId="1245155804" sldId="2142535236"/>
        </pc:sldMkLst>
        <pc:spChg chg="mod">
          <ac:chgData name="Sam Buck" userId="bc3bb9b3-aaed-4fca-b07d-28c7a5fc59f4" providerId="ADAL" clId="{BA8E32C1-7A7B-4F29-A846-F98F4CEE6290}" dt="2026-05-27T15:20:21.961" v="984"/>
          <ac:spMkLst>
            <pc:docMk/>
            <pc:sldMk cId="1245155804" sldId="2142535236"/>
            <ac:spMk id="3" creationId="{48E2267E-6271-1106-39ED-86A3648F3E0E}"/>
          </ac:spMkLst>
        </pc:spChg>
        <pc:spChg chg="mod">
          <ac:chgData name="Sam Buck" userId="bc3bb9b3-aaed-4fca-b07d-28c7a5fc59f4" providerId="ADAL" clId="{BA8E32C1-7A7B-4F29-A846-F98F4CEE6290}" dt="2026-05-27T15:20:21.963" v="986"/>
          <ac:spMkLst>
            <pc:docMk/>
            <pc:sldMk cId="1245155804" sldId="2142535236"/>
            <ac:spMk id="5" creationId="{BDEF573D-A754-C644-A563-941F5CE3627C}"/>
          </ac:spMkLst>
        </pc:spChg>
      </pc:sldChg>
      <pc:sldChg chg="modSp add del mod">
        <pc:chgData name="Sam Buck" userId="bc3bb9b3-aaed-4fca-b07d-28c7a5fc59f4" providerId="ADAL" clId="{BA8E32C1-7A7B-4F29-A846-F98F4CEE6290}" dt="2026-05-27T15:23:42.374" v="999"/>
        <pc:sldMkLst>
          <pc:docMk/>
          <pc:sldMk cId="1310068847" sldId="2142535237"/>
        </pc:sldMkLst>
        <pc:spChg chg="mod">
          <ac:chgData name="Sam Buck" userId="bc3bb9b3-aaed-4fca-b07d-28c7a5fc59f4" providerId="ADAL" clId="{BA8E32C1-7A7B-4F29-A846-F98F4CEE6290}" dt="2026-05-27T15:21:45.650" v="990"/>
          <ac:spMkLst>
            <pc:docMk/>
            <pc:sldMk cId="1310068847" sldId="2142535237"/>
            <ac:spMk id="2" creationId="{AB7F067E-1458-822C-4D7E-E70798CDEAB4}"/>
          </ac:spMkLst>
        </pc:spChg>
        <pc:spChg chg="mod">
          <ac:chgData name="Sam Buck" userId="bc3bb9b3-aaed-4fca-b07d-28c7a5fc59f4" providerId="ADAL" clId="{BA8E32C1-7A7B-4F29-A846-F98F4CEE6290}" dt="2026-05-27T15:22:33.577" v="997"/>
          <ac:spMkLst>
            <pc:docMk/>
            <pc:sldMk cId="1310068847" sldId="2142535237"/>
            <ac:spMk id="5" creationId="{1740DDC0-2C7B-06EE-C173-A9C32EE94386}"/>
          </ac:spMkLst>
        </pc:spChg>
        <pc:spChg chg="mod">
          <ac:chgData name="Sam Buck" userId="bc3bb9b3-aaed-4fca-b07d-28c7a5fc59f4" providerId="ADAL" clId="{BA8E32C1-7A7B-4F29-A846-F98F4CEE6290}" dt="2026-05-27T15:21:45.651" v="991"/>
          <ac:spMkLst>
            <pc:docMk/>
            <pc:sldMk cId="1310068847" sldId="2142535237"/>
            <ac:spMk id="6" creationId="{225C94C4-EE3F-0406-9473-7E48E75FBB20}"/>
          </ac:spMkLst>
        </pc:spChg>
        <pc:spChg chg="mod">
          <ac:chgData name="Sam Buck" userId="bc3bb9b3-aaed-4fca-b07d-28c7a5fc59f4" providerId="ADAL" clId="{BA8E32C1-7A7B-4F29-A846-F98F4CEE6290}" dt="2026-05-27T15:21:45.652" v="992"/>
          <ac:spMkLst>
            <pc:docMk/>
            <pc:sldMk cId="1310068847" sldId="2142535237"/>
            <ac:spMk id="7" creationId="{950D8BB6-AB4F-7429-731D-DB825E33F96E}"/>
          </ac:spMkLst>
        </pc:spChg>
        <pc:spChg chg="mod">
          <ac:chgData name="Sam Buck" userId="bc3bb9b3-aaed-4fca-b07d-28c7a5fc59f4" providerId="ADAL" clId="{BA8E32C1-7A7B-4F29-A846-F98F4CEE6290}" dt="2026-05-27T15:21:45.655" v="994"/>
          <ac:spMkLst>
            <pc:docMk/>
            <pc:sldMk cId="1310068847" sldId="2142535237"/>
            <ac:spMk id="8" creationId="{00278F13-DFDA-F9A8-27CC-89F3FDA8A54A}"/>
          </ac:spMkLst>
        </pc:spChg>
        <pc:spChg chg="mod">
          <ac:chgData name="Sam Buck" userId="bc3bb9b3-aaed-4fca-b07d-28c7a5fc59f4" providerId="ADAL" clId="{BA8E32C1-7A7B-4F29-A846-F98F4CEE6290}" dt="2026-05-27T15:21:45.657" v="996"/>
          <ac:spMkLst>
            <pc:docMk/>
            <pc:sldMk cId="1310068847" sldId="2142535237"/>
            <ac:spMk id="10" creationId="{D40D91BF-D94C-2D64-1D5B-3186A66095A7}"/>
          </ac:spMkLst>
        </pc:spChg>
      </pc:sldChg>
      <pc:sldChg chg="modSp add del mod">
        <pc:chgData name="Sam Buck" userId="bc3bb9b3-aaed-4fca-b07d-28c7a5fc59f4" providerId="ADAL" clId="{BA8E32C1-7A7B-4F29-A846-F98F4CEE6290}" dt="2026-05-27T15:26:46.044" v="1004"/>
        <pc:sldMkLst>
          <pc:docMk/>
          <pc:sldMk cId="2464522685" sldId="2142535238"/>
        </pc:sldMkLst>
        <pc:spChg chg="mod">
          <ac:chgData name="Sam Buck" userId="bc3bb9b3-aaed-4fca-b07d-28c7a5fc59f4" providerId="ADAL" clId="{BA8E32C1-7A7B-4F29-A846-F98F4CEE6290}" dt="2026-05-27T15:23:42.881" v="1000"/>
          <ac:spMkLst>
            <pc:docMk/>
            <pc:sldMk cId="2464522685" sldId="2142535238"/>
            <ac:spMk id="8" creationId="{00278F13-DFDA-F9A8-27CC-89F3FDA8A54A}"/>
          </ac:spMkLst>
        </pc:spChg>
        <pc:spChg chg="mod">
          <ac:chgData name="Sam Buck" userId="bc3bb9b3-aaed-4fca-b07d-28c7a5fc59f4" providerId="ADAL" clId="{BA8E32C1-7A7B-4F29-A846-F98F4CEE6290}" dt="2026-05-27T15:23:42.885" v="1002"/>
          <ac:spMkLst>
            <pc:docMk/>
            <pc:sldMk cId="2464522685" sldId="2142535238"/>
            <ac:spMk id="10" creationId="{D40D91BF-D94C-2D64-1D5B-3186A66095A7}"/>
          </ac:spMkLst>
        </pc:spChg>
      </pc:sldChg>
      <pc:sldChg chg="modSp add mod">
        <pc:chgData name="Sam Buck" userId="bc3bb9b3-aaed-4fca-b07d-28c7a5fc59f4" providerId="ADAL" clId="{BA8E32C1-7A7B-4F29-A846-F98F4CEE6290}" dt="2026-05-27T16:16:59.083" v="1017" actId="14100"/>
        <pc:sldMkLst>
          <pc:docMk/>
          <pc:sldMk cId="23233065" sldId="2142535239"/>
        </pc:sldMkLst>
        <pc:spChg chg="mod">
          <ac:chgData name="Sam Buck" userId="bc3bb9b3-aaed-4fca-b07d-28c7a5fc59f4" providerId="ADAL" clId="{BA8E32C1-7A7B-4F29-A846-F98F4CEE6290}" dt="2026-05-27T16:15:35.679" v="1013" actId="20577"/>
          <ac:spMkLst>
            <pc:docMk/>
            <pc:sldMk cId="23233065" sldId="2142535239"/>
            <ac:spMk id="2" creationId="{AB7F067E-1458-822C-4D7E-E70798CDEAB4}"/>
          </ac:spMkLst>
        </pc:spChg>
        <pc:spChg chg="mod">
          <ac:chgData name="Sam Buck" userId="bc3bb9b3-aaed-4fca-b07d-28c7a5fc59f4" providerId="ADAL" clId="{BA8E32C1-7A7B-4F29-A846-F98F4CEE6290}" dt="2026-05-27T15:26:46.621" v="1006"/>
          <ac:spMkLst>
            <pc:docMk/>
            <pc:sldMk cId="23233065" sldId="2142535239"/>
            <ac:spMk id="8" creationId="{00278F13-DFDA-F9A8-27CC-89F3FDA8A54A}"/>
          </ac:spMkLst>
        </pc:spChg>
        <pc:spChg chg="mod">
          <ac:chgData name="Sam Buck" userId="bc3bb9b3-aaed-4fca-b07d-28c7a5fc59f4" providerId="ADAL" clId="{BA8E32C1-7A7B-4F29-A846-F98F4CEE6290}" dt="2026-05-27T15:26:46.625" v="1008"/>
          <ac:spMkLst>
            <pc:docMk/>
            <pc:sldMk cId="23233065" sldId="2142535239"/>
            <ac:spMk id="10" creationId="{D40D91BF-D94C-2D64-1D5B-3186A66095A7}"/>
          </ac:spMkLst>
        </pc:spChg>
        <pc:cxnChg chg="mod">
          <ac:chgData name="Sam Buck" userId="bc3bb9b3-aaed-4fca-b07d-28c7a5fc59f4" providerId="ADAL" clId="{BA8E32C1-7A7B-4F29-A846-F98F4CEE6290}" dt="2026-05-27T16:16:59.083" v="1017" actId="14100"/>
          <ac:cxnSpMkLst>
            <pc:docMk/>
            <pc:sldMk cId="23233065" sldId="2142535239"/>
            <ac:cxnSpMk id="33" creationId="{189BA06F-320D-E2CD-E730-2E324F1D34B3}"/>
          </ac:cxnSpMkLst>
        </pc:cxnChg>
        <pc:cxnChg chg="mod">
          <ac:chgData name="Sam Buck" userId="bc3bb9b3-aaed-4fca-b07d-28c7a5fc59f4" providerId="ADAL" clId="{BA8E32C1-7A7B-4F29-A846-F98F4CEE6290}" dt="2026-05-27T16:16:44.028" v="1015" actId="14100"/>
          <ac:cxnSpMkLst>
            <pc:docMk/>
            <pc:sldMk cId="23233065" sldId="2142535239"/>
            <ac:cxnSpMk id="36" creationId="{B0A012A9-8D2E-7BD9-2DF1-7C2248E546DB}"/>
          </ac:cxnSpMkLst>
        </pc:cxnChg>
        <pc:cxnChg chg="mod">
          <ac:chgData name="Sam Buck" userId="bc3bb9b3-aaed-4fca-b07d-28c7a5fc59f4" providerId="ADAL" clId="{BA8E32C1-7A7B-4F29-A846-F98F4CEE6290}" dt="2026-05-27T16:16:54.120" v="1016" actId="14100"/>
          <ac:cxnSpMkLst>
            <pc:docMk/>
            <pc:sldMk cId="23233065" sldId="2142535239"/>
            <ac:cxnSpMk id="39" creationId="{76DB24FB-6C39-DA66-4D72-2B545DBE34F8}"/>
          </ac:cxnSpMkLst>
        </pc:cxnChg>
      </pc:sldChg>
      <pc:sldMasterChg chg="add del addSldLayout delSldLayout modSldLayout">
        <pc:chgData name="Sam Buck" userId="bc3bb9b3-aaed-4fca-b07d-28c7a5fc59f4" providerId="ADAL" clId="{BA8E32C1-7A7B-4F29-A846-F98F4CEE6290}" dt="2026-05-27T15:16:03.605" v="972" actId="2696"/>
        <pc:sldMasterMkLst>
          <pc:docMk/>
          <pc:sldMasterMk cId="0" sldId="2147483648"/>
        </pc:sldMasterMkLst>
        <pc:sldLayoutChg chg="add del mod">
          <pc:chgData name="Sam Buck" userId="bc3bb9b3-aaed-4fca-b07d-28c7a5fc59f4" providerId="ADAL" clId="{BA8E32C1-7A7B-4F29-A846-F98F4CEE6290}" dt="2026-05-27T15:16:03.605" v="972" actId="269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replId modSldLayout">
        <pc:chgData name="Sam Buck" userId="bc3bb9b3-aaed-4fca-b07d-28c7a5fc59f4" providerId="ADAL" clId="{BA8E32C1-7A7B-4F29-A846-F98F4CEE6290}" dt="2026-05-27T15:11:30.365" v="965"/>
        <pc:sldMasterMkLst>
          <pc:docMk/>
          <pc:sldMasterMk cId="1092359835" sldId="2147483660"/>
        </pc:sldMasterMkLst>
        <pc:sldLayoutChg chg="replId">
          <pc:chgData name="Sam Buck" userId="bc3bb9b3-aaed-4fca-b07d-28c7a5fc59f4" providerId="ADAL" clId="{BA8E32C1-7A7B-4F29-A846-F98F4CEE6290}" dt="2026-05-27T15:11:30.365" v="965"/>
          <pc:sldLayoutMkLst>
            <pc:docMk/>
            <pc:sldMasterMk cId="1092359835" sldId="2147483660"/>
            <pc:sldLayoutMk cId="1202109068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0F9896-81CC-A246-85AE-4F355A0FDFB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D96C43F-C536-094F-A4F7-01621F74F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9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6C43F-C536-094F-A4F7-01621F74F7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16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4BE9E3-3978-CB42-83BE-123170E1D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2810"/>
            <a:ext cx="12222405" cy="6860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4E8B48-4ADA-A045-B86C-04A1032EA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30855"/>
            <a:ext cx="5681870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MrEavesXLModOT" panose="020B08030605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5E894-F146-374B-BD69-89F91921B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810530"/>
            <a:ext cx="568187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rEavesXLModOT" panose="020B08030605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C308-F425-394E-A63C-9A33FF5C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rEavesXLModOT" panose="020B0803060502020204" pitchFamily="34" charset="77"/>
              </a:defRPr>
            </a:lvl1pPr>
          </a:lstStyle>
          <a:p>
            <a:fld id="{6C0F01EA-84E8-5644-83A3-7D0EF4028B7F}" type="datetime1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E5A6-706A-0042-AE6B-A3C5907F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A0ECD-DAF3-704D-82BC-19D24351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0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FB45-C946-6848-A0F5-6C1DD646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E4DEE-117A-7D49-951C-47F975050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5D895-FA52-674F-9195-C9295E0C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4DDC-2803-7448-838A-B12F95E4AAE7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C21D8-99CF-8545-AD5F-AE8721EB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390A-2D3C-A743-AC0C-6D6EE42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1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5391-93E2-804B-BDFE-A1CA3FCB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E8F54-4815-AD44-A961-988571EEB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5F672-9DA2-474D-8158-FA2BC20E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6DFB-EBCA-9647-9D98-66ECF45D3191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08D26-09A7-C640-9034-B8A1F6FB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11C31-BB81-8643-865F-9283E8C4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5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E469-DA25-DD42-8989-27293F2E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43A2-2728-0F40-85C6-619C6D512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B33A8-6648-744F-A99F-A921ED369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FBF0C-3728-A845-B406-FD67D0A3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7BDE-5B94-0C45-AD7C-58CCEC7FA2F5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3658E-D8F4-A846-AD02-E0BB9BA1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B75F-833D-AD49-965C-71B153B6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85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BCC9A2-391A-3447-987F-B8FAFD50F6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7129"/>
            <a:ext cx="12191997" cy="6843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94AC5D-EBCC-4740-9C0A-0F8993D6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971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D3490-B4DB-9A4B-9E28-BDC8ECB0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69164" y="1172817"/>
            <a:ext cx="4333459" cy="4492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09D1F7-60C1-0743-8C94-EED6810FE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0070" y="1172817"/>
            <a:ext cx="4333460" cy="4492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FDA97-5C7B-7047-99D5-DA4FA79F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5C5E-3591-B448-9A0D-CE0C2A091573}" type="datetime1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7453D-A2DE-FC48-89D3-FB45F315A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80265-45C6-004E-93A0-8311D81B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5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8EB5-2F80-3740-ADBC-9276D29A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EFB3D-56AF-9B4D-896B-7C790BFD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CCDF-8952-244F-B3AF-259E1079C551}" type="datetime1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A47E0-D29A-0D4F-AA20-59BC3D89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408FF-C29D-6448-8E96-67F051D4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7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85F5C-3C4F-FF4A-8F7D-AA647028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F46-7431-A14C-9516-51B389F59C62}" type="datetime1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C0A80-3508-2042-962B-82741353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D6860-4B46-DC47-9B45-0B1350C0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43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FDE3-C369-E84D-9FE3-80800134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153" y="457200"/>
            <a:ext cx="548149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7F222-6631-D041-A478-A2D81AB2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153" y="2057400"/>
            <a:ext cx="5481499" cy="3803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FC992-8F32-8E40-BD86-121D5831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8601-27C7-5845-9966-985272C59EBA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32D6F-22C0-1B42-9516-A14F7D9A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2FE5E-42EA-A343-9846-7455CA6D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FA107D-96CC-B54B-9157-28B20AA8D72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7200" y="-1"/>
            <a:ext cx="5638800" cy="6843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01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914B-48D1-5E47-B978-4CB57EB5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830C0-341C-084B-9FA2-3F6406C76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13292-6BF5-B24D-B888-877F2F9D0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B1052-DBCC-594E-8A76-17F953D4E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710EF-DF38-DF47-80F8-15B4419A5018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B5BC2-8B2F-034A-BA2A-E4332541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B9352-797D-A74E-A9DE-18595CAD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7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F665-D4E6-B44D-8E71-85CE9304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27F1F-62F0-F54D-9BFB-BAD25347E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7C565-4387-2141-9CDD-909062C7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43733-40A0-9B4E-8BF2-A30B7CF0D28B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685DD-48FC-514E-AE21-CAC32C49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F8797-17F3-FA45-99F4-8479C74F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4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2BBD8-CE66-1048-8A75-DA9BD6125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68AE3-E3DE-8843-95C5-D82599CE8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75242-6CD1-0844-A515-28DAA5CD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FCB7-DB4F-5043-AF30-D50E26A4B786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5CB43-BCD4-1649-B616-EFFBCE0A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F310-854F-574B-BF9C-335413AD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2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1ADBD4-AB3B-884C-982B-CB2973B2F62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0" y="-2810"/>
            <a:ext cx="12222404" cy="686080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BAD89-470C-3F44-84D8-41756490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0B72-0D93-F947-AD31-DC105800D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F41FF-BBD5-0D48-B586-9C16D11BE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rEavesXLModOT" panose="020B0803060502020204" pitchFamily="34" charset="77"/>
              </a:defRPr>
            </a:lvl1pPr>
          </a:lstStyle>
          <a:p>
            <a:fld id="{D43D216A-2D38-F843-84FC-3F809F8E27CD}" type="datetime1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C1E7-49E7-A647-B712-9C987F32F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rEavesXLModOT" panose="020B08030605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61FAE-7F7F-8B46-8ADD-D741AFCEA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50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MrEavesXLModOT" panose="020B0803060502020204" pitchFamily="34" charset="77"/>
              </a:defRPr>
            </a:lvl1pPr>
          </a:lstStyle>
          <a:p>
            <a:fld id="{6D6F0AC1-2ABB-3A49-A67F-8E42243F98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5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MrEavesXLModOT" panose="020B08030605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88E061-0CC3-50AD-14D4-8FA55BDB8D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438881" y="-16168"/>
            <a:ext cx="11776073" cy="63725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027FF-098D-56B0-D31D-C9C9E0D68E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2233273" cy="68669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E21EAA-CFA9-2B45-8DD0-3802B926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8" y="3846732"/>
            <a:ext cx="5170039" cy="1340998"/>
          </a:xfrm>
        </p:spPr>
        <p:txBody>
          <a:bodyPr>
            <a:noAutofit/>
          </a:bodyPr>
          <a:lstStyle/>
          <a:p>
            <a:br>
              <a:rPr lang="en-US" sz="3200" b="0" dirty="0">
                <a:latin typeface="+mj-lt"/>
              </a:rPr>
            </a:br>
            <a:br>
              <a:rPr lang="en-US" sz="3200" b="0" dirty="0">
                <a:latin typeface="+mj-lt"/>
              </a:rPr>
            </a:br>
            <a:br>
              <a:rPr lang="en-US" sz="3200" b="0" dirty="0">
                <a:latin typeface="+mj-lt"/>
              </a:rPr>
            </a:br>
            <a:br>
              <a:rPr lang="en-US" sz="3200" b="0" dirty="0">
                <a:latin typeface="Franklin Gothic Book" panose="020B0503020102020204" pitchFamily="34" charset="0"/>
              </a:rPr>
            </a:br>
            <a:br>
              <a:rPr lang="en-US" sz="3200" b="0" dirty="0"/>
            </a:br>
            <a:br>
              <a:rPr lang="en-US" sz="3200" b="0" dirty="0"/>
            </a:br>
            <a:br>
              <a:rPr lang="en-US" sz="3200" b="0" dirty="0"/>
            </a:br>
            <a:br>
              <a:rPr lang="en-US" sz="3200" b="0" dirty="0">
                <a:latin typeface="Franklin Gothic Book" panose="020B0503020102020204" pitchFamily="34" charset="0"/>
              </a:rPr>
            </a:br>
            <a:r>
              <a:rPr lang="en-US" sz="3200" b="0">
                <a:latin typeface="Aptos" panose="020B0004020202020204" pitchFamily="34" charset="0"/>
              </a:rPr>
              <a:t>Salinas BESS </a:t>
            </a:r>
            <a:r>
              <a:rPr lang="en-US" sz="3200" b="0" dirty="0">
                <a:latin typeface="Aptos" panose="020B0004020202020204" pitchFamily="34" charset="0"/>
              </a:rPr>
              <a:t>Compensation Calculation</a:t>
            </a:r>
            <a:endParaRPr lang="es-419" sz="4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 descr="A lit up city at night&#10;&#10;Description automatically generated">
            <a:extLst>
              <a:ext uri="{FF2B5EF4-FFF2-40B4-BE49-F238E27FC236}">
                <a16:creationId xmlns:a16="http://schemas.microsoft.com/office/drawing/2014/main" id="{001D62BC-7E98-734A-94D6-0AF865395E6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57027"/>
            <a:ext cx="2756338" cy="86518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60AA-C894-9848-B38C-2DBE1F8A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F0AC1-2ABB-3A49-A67F-8E42243F98C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31E4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31E4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528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DFC24-F6BF-1F64-D2BB-01D48A72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4F85-81F4-A32C-30FE-DC380969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2" y="0"/>
            <a:ext cx="10882259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Table of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71ACA-8865-44B1-BAF1-CCB42768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F9E06-21E5-32DD-79DA-CBF28C23DB90}"/>
              </a:ext>
            </a:extLst>
          </p:cNvPr>
          <p:cNvSpPr txBox="1"/>
          <p:nvPr/>
        </p:nvSpPr>
        <p:spPr>
          <a:xfrm>
            <a:off x="575732" y="711200"/>
            <a:ext cx="10795000" cy="4000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Compensation Structure							Slide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Monthly Payment Overview 							          3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Monthly Fixed Payment Formula  						     4–5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Monthly Fixed Payment &amp; CPP Detail  						     6–9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Payment Components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Monthly Contract Capability (MCC) 						10–12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Facility Availability / FAA 							13–18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PREPA Risk Adjustment (PRA) 							       19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Examples &amp; Key Takeaways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Monthly Fixed Payment Overview 						       20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Monthly Fixed Payment Calculation Example 					       21</a:t>
            </a:r>
          </a:p>
          <a:p>
            <a:pPr marL="64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002060"/>
                </a:solidFill>
                <a:latin typeface="Aptos" panose="020B0004020202020204" pitchFamily="34" charset="0"/>
              </a:rPr>
              <a:t>Key Takeaways 								       22</a:t>
            </a:r>
          </a:p>
        </p:txBody>
      </p:sp>
    </p:spTree>
    <p:extLst>
      <p:ext uri="{BB962C8B-B14F-4D97-AF65-F5344CB8AC3E}">
        <p14:creationId xmlns:p14="http://schemas.microsoft.com/office/powerpoint/2010/main" val="145620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D558-6462-4478-F5FA-6437FBF4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2" y="0"/>
            <a:ext cx="10882259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Executive Summary – Monthly Payment (Energy Storage Services)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6D52C-9520-27BC-410A-375FB3FB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0FA6B-2CFE-B409-C6AA-82F105EA1356}"/>
              </a:ext>
            </a:extLst>
          </p:cNvPr>
          <p:cNvSpPr txBox="1"/>
          <p:nvPr/>
        </p:nvSpPr>
        <p:spPr>
          <a:xfrm>
            <a:off x="575732" y="2189445"/>
            <a:ext cx="5250909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Aptos" panose="020B0004020202020204" pitchFamily="34" charset="0"/>
              </a:rPr>
              <a:t>How it works</a:t>
            </a:r>
            <a:r>
              <a:rPr lang="en-US">
                <a:latin typeface="Aptos" panose="020B00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>
                <a:latin typeface="Aptos" panose="020B0004020202020204" pitchFamily="34" charset="0"/>
              </a:rPr>
              <a:t>Based on services delivered (charging, discharging, and operational support), with adjustments for any credits or penalties.</a:t>
            </a:r>
            <a:endParaRPr lang="en-US" b="1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4107C-2FE0-AC60-9E68-90BB871557F7}"/>
              </a:ext>
            </a:extLst>
          </p:cNvPr>
          <p:cNvSpPr txBox="1"/>
          <p:nvPr/>
        </p:nvSpPr>
        <p:spPr>
          <a:xfrm>
            <a:off x="575733" y="1461308"/>
            <a:ext cx="9851066" cy="467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Aptos" panose="020B0004020202020204" pitchFamily="34" charset="0"/>
              </a:rPr>
              <a:t>Idea:</a:t>
            </a:r>
            <a:r>
              <a:rPr lang="en-US">
                <a:latin typeface="Aptos" panose="020B0004020202020204" pitchFamily="34" charset="0"/>
              </a:rPr>
              <a:t> </a:t>
            </a:r>
            <a:r>
              <a:rPr lang="en-US" b="1">
                <a:latin typeface="Aptos" panose="020B0004020202020204" pitchFamily="34" charset="0"/>
              </a:rPr>
              <a:t>A</a:t>
            </a:r>
            <a:r>
              <a:rPr lang="en-US">
                <a:latin typeface="Aptos" panose="020B0004020202020204" pitchFamily="34" charset="0"/>
              </a:rPr>
              <a:t> </a:t>
            </a:r>
            <a:r>
              <a:rPr lang="en-US" b="1">
                <a:latin typeface="Aptos" panose="020B0004020202020204" pitchFamily="34" charset="0"/>
              </a:rPr>
              <a:t>payment from PREPA </a:t>
            </a:r>
            <a:r>
              <a:rPr lang="en-US">
                <a:latin typeface="Aptos" panose="020B0004020202020204" pitchFamily="34" charset="0"/>
              </a:rPr>
              <a:t>for Energy Storage Services provided during the billing period.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7BE89-451C-ED05-44DA-EE4707A9AB16}"/>
              </a:ext>
            </a:extLst>
          </p:cNvPr>
          <p:cNvSpPr txBox="1"/>
          <p:nvPr/>
        </p:nvSpPr>
        <p:spPr>
          <a:xfrm>
            <a:off x="6048805" y="2189445"/>
            <a:ext cx="5250909" cy="1713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Aptos" panose="020B0004020202020204" pitchFamily="34" charset="0"/>
              </a:rPr>
              <a:t>Key Takeaway: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This is a performance-based payment tied to real operations, separate from the fixed capacity payment.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A84BA-975A-9627-4B92-0AF72D7D2E2F}"/>
              </a:ext>
            </a:extLst>
          </p:cNvPr>
          <p:cNvSpPr txBox="1"/>
          <p:nvPr/>
        </p:nvSpPr>
        <p:spPr>
          <a:xfrm>
            <a:off x="575733" y="771557"/>
            <a:ext cx="3315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659130"/>
                </a:solidFill>
                <a:latin typeface="Aptos" panose="020B0004020202020204" pitchFamily="34" charset="0"/>
              </a:rPr>
              <a:t>MP</a:t>
            </a:r>
            <a:r>
              <a:rPr lang="en-US" sz="3600">
                <a:solidFill>
                  <a:srgbClr val="659130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- </a:t>
            </a:r>
            <a:r>
              <a:rPr lang="en-US" sz="3600">
                <a:solidFill>
                  <a:srgbClr val="7030A0"/>
                </a:solidFill>
                <a:latin typeface="Aptos" panose="020B0004020202020204" pitchFamily="34" charset="0"/>
              </a:rPr>
              <a:t>ADJ</a:t>
            </a:r>
            <a:endParaRPr lang="en-US" sz="360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72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0427-788C-2F91-E5F8-03DBE3CD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B3F2-85DA-3D79-DA8A-119C4714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2" y="0"/>
            <a:ext cx="10882259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Executive Summary – Monthly Fixed Payment (MFP)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0461D-CAB9-D947-FA80-8A78AF1E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213BA-0122-F8ED-E457-9A1AA82BF0CA}"/>
              </a:ext>
            </a:extLst>
          </p:cNvPr>
          <p:cNvSpPr txBox="1"/>
          <p:nvPr/>
        </p:nvSpPr>
        <p:spPr>
          <a:xfrm>
            <a:off x="575733" y="2148980"/>
            <a:ext cx="5250909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Aptos" panose="020B0004020202020204" pitchFamily="34" charset="0"/>
              </a:rPr>
              <a:t>What’s Being Paid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956DF"/>
                </a:solidFill>
                <a:latin typeface="Aptos" panose="020B0004020202020204" pitchFamily="34" charset="0"/>
              </a:rPr>
              <a:t>CPP</a:t>
            </a:r>
            <a:r>
              <a:rPr lang="en-US">
                <a:latin typeface="Aptos" panose="020B0004020202020204" pitchFamily="34" charset="0"/>
              </a:rPr>
              <a:t> – Base capacity price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(Project + Interconnection Costs)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>
                <a:latin typeface="Aptos" panose="020B0004020202020204" pitchFamily="34" charset="0"/>
              </a:rPr>
              <a:t> – Available capacity adjusted for Degradation/Performance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86C041"/>
                </a:solidFill>
                <a:latin typeface="Aptos" panose="020B0004020202020204" pitchFamily="34" charset="0"/>
              </a:rPr>
              <a:t>FAA</a:t>
            </a:r>
            <a:r>
              <a:rPr lang="en-US">
                <a:latin typeface="Aptos" panose="020B0004020202020204" pitchFamily="34" charset="0"/>
              </a:rPr>
              <a:t> – Availability of the facility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  <a:r>
              <a:rPr lang="en-US">
                <a:latin typeface="Aptos" panose="020B0004020202020204" pitchFamily="34" charset="0"/>
              </a:rPr>
              <a:t> – Adjustments for PREPA-related risk events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9DD713-40A5-A4DF-430B-6F0FA8799848}"/>
              </a:ext>
            </a:extLst>
          </p:cNvPr>
          <p:cNvSpPr txBox="1"/>
          <p:nvPr/>
        </p:nvSpPr>
        <p:spPr>
          <a:xfrm>
            <a:off x="575733" y="1461308"/>
            <a:ext cx="9851066" cy="467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Aptos" panose="020B0004020202020204" pitchFamily="34" charset="0"/>
              </a:rPr>
              <a:t>Idea:</a:t>
            </a:r>
            <a:r>
              <a:rPr lang="en-US">
                <a:latin typeface="Aptos" panose="020B0004020202020204" pitchFamily="34" charset="0"/>
              </a:rPr>
              <a:t> PREPA pays for the facility’s capacity and readiness, not actual energy delivered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042AE-C9A1-5618-797A-47FC36A8E15A}"/>
              </a:ext>
            </a:extLst>
          </p:cNvPr>
          <p:cNvSpPr txBox="1"/>
          <p:nvPr/>
        </p:nvSpPr>
        <p:spPr>
          <a:xfrm>
            <a:off x="5840422" y="2148980"/>
            <a:ext cx="6026899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Aptos" panose="020B0004020202020204" pitchFamily="34" charset="0"/>
              </a:rPr>
              <a:t>What this means</a:t>
            </a:r>
            <a:r>
              <a:rPr lang="en-US">
                <a:latin typeface="Aptos" panose="020B00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The payment is based on capability, not dispatch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Even if no energy is delivered, payment can still occur</a:t>
            </a:r>
          </a:p>
          <a:p>
            <a:pPr>
              <a:lnSpc>
                <a:spcPct val="150000"/>
              </a:lnSpc>
            </a:pPr>
            <a:endParaRPr lang="en-US" b="1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>
                <a:latin typeface="Aptos" panose="020B0004020202020204" pitchFamily="34" charset="0"/>
              </a:rPr>
              <a:t>Key Takeaways: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The largest drivers are capacity (</a:t>
            </a:r>
            <a:r>
              <a:rPr lang="en-US" b="1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>
                <a:latin typeface="Aptos" panose="020B0004020202020204" pitchFamily="34" charset="0"/>
              </a:rPr>
              <a:t>) and availability (</a:t>
            </a:r>
            <a:r>
              <a:rPr lang="en-US" b="1">
                <a:solidFill>
                  <a:srgbClr val="86C041"/>
                </a:solidFill>
                <a:latin typeface="Aptos" panose="020B0004020202020204" pitchFamily="34" charset="0"/>
              </a:rPr>
              <a:t>FAA</a:t>
            </a:r>
            <a:r>
              <a:rPr lang="en-US">
                <a:latin typeface="Aptos" panose="020B00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Maintaining performance and uptime is critical to maximizing payment</a:t>
            </a:r>
          </a:p>
          <a:p>
            <a:pPr>
              <a:lnSpc>
                <a:spcPct val="150000"/>
              </a:lnSpc>
            </a:pPr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0D53F-5213-7DB6-1F07-B2B766BDB79D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</p:spTree>
    <p:extLst>
      <p:ext uri="{BB962C8B-B14F-4D97-AF65-F5344CB8AC3E}">
        <p14:creationId xmlns:p14="http://schemas.microsoft.com/office/powerpoint/2010/main" val="668175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A4FB-58BE-BD41-751D-29E0838B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258F-5874-44F2-7AB7-E3135DF6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BESS - Monthly Payment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930C7-5532-0296-C398-2A02140D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2DC68-6DE5-37F0-ECC5-1FF06F875220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659130"/>
                </a:solidFill>
                <a:latin typeface="Aptos" panose="020B0004020202020204" pitchFamily="34" charset="0"/>
              </a:rPr>
              <a:t>MP</a:t>
            </a:r>
            <a:r>
              <a:rPr lang="en-US" sz="3600">
                <a:solidFill>
                  <a:srgbClr val="659130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- </a:t>
            </a:r>
            <a:r>
              <a:rPr lang="en-US" sz="3600">
                <a:solidFill>
                  <a:srgbClr val="7030A0"/>
                </a:solidFill>
                <a:latin typeface="Aptos" panose="020B0004020202020204" pitchFamily="34" charset="0"/>
              </a:rPr>
              <a:t>ADJ</a:t>
            </a:r>
            <a:endParaRPr lang="en-US" sz="360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4ABAE-1983-F7EE-D81D-52EC09E54A85}"/>
              </a:ext>
            </a:extLst>
          </p:cNvPr>
          <p:cNvSpPr txBox="1"/>
          <p:nvPr/>
        </p:nvSpPr>
        <p:spPr>
          <a:xfrm>
            <a:off x="901884" y="1417888"/>
            <a:ext cx="5350681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>
                <a:solidFill>
                  <a:srgbClr val="659130"/>
                </a:solidFill>
                <a:latin typeface="Aptos" panose="020B0004020202020204" pitchFamily="34" charset="0"/>
              </a:rPr>
              <a:t>MP</a:t>
            </a:r>
            <a:r>
              <a:rPr lang="en-US">
                <a:latin typeface="Aptos" panose="020B0004020202020204" pitchFamily="34" charset="0"/>
              </a:rPr>
              <a:t> = Monthly Payment for such Billing Period</a:t>
            </a:r>
          </a:p>
          <a:p>
            <a:pPr>
              <a:lnSpc>
                <a:spcPct val="200000"/>
              </a:lnSpc>
            </a:pPr>
            <a:r>
              <a:rPr lang="en-US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>
                <a:latin typeface="Aptos" panose="020B0004020202020204" pitchFamily="34" charset="0"/>
              </a:rPr>
              <a:t> = Monthly Fixed Payment for such Billing Period</a:t>
            </a:r>
            <a:br>
              <a:rPr lang="en-US">
                <a:latin typeface="Aptos" panose="020B0004020202020204" pitchFamily="34" charset="0"/>
              </a:rPr>
            </a:br>
            <a:r>
              <a:rPr lang="en-US" b="1">
                <a:solidFill>
                  <a:srgbClr val="7030A0"/>
                </a:solidFill>
                <a:latin typeface="Aptos" panose="020B0004020202020204" pitchFamily="34" charset="0"/>
              </a:rPr>
              <a:t>ADJ</a:t>
            </a:r>
            <a:r>
              <a:rPr lang="en-US">
                <a:latin typeface="Aptos" panose="020B0004020202020204" pitchFamily="34" charset="0"/>
              </a:rPr>
              <a:t> = Other Credits or amounts</a:t>
            </a:r>
          </a:p>
          <a:p>
            <a:pPr>
              <a:lnSpc>
                <a:spcPct val="200000"/>
              </a:lnSpc>
            </a:pPr>
            <a:endParaRPr lang="en-US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9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5B8A-83D9-118C-5D60-0ACE8F00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ADF3-975A-51F2-02BF-4B13D945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Monthly Fixed Payment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10C20-B612-0637-624D-97D36D5B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0DA8C-6EC6-6667-2B26-C2FAFA6BB363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659130"/>
                </a:solidFill>
                <a:latin typeface="Aptos" panose="020B0004020202020204" pitchFamily="34" charset="0"/>
              </a:rPr>
              <a:t>MP</a:t>
            </a:r>
            <a:r>
              <a:rPr lang="en-US" sz="3600">
                <a:solidFill>
                  <a:srgbClr val="659130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rgbClr val="0956DF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- </a:t>
            </a:r>
            <a:r>
              <a:rPr lang="en-US" sz="3600">
                <a:solidFill>
                  <a:srgbClr val="7030A0"/>
                </a:solidFill>
                <a:latin typeface="Aptos" panose="020B0004020202020204" pitchFamily="34" charset="0"/>
              </a:rPr>
              <a:t>ADJ</a:t>
            </a:r>
            <a:endParaRPr lang="en-US" sz="360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B1DB8ACE-CE76-E6C9-A576-E3302BC11DE3}"/>
              </a:ext>
            </a:extLst>
          </p:cNvPr>
          <p:cNvSpPr txBox="1">
            <a:spLocks/>
          </p:cNvSpPr>
          <p:nvPr/>
        </p:nvSpPr>
        <p:spPr>
          <a:xfrm>
            <a:off x="838200" y="1533782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r>
              <a:rPr lang="en-US" b="0">
                <a:latin typeface="Aptos" panose="020B0004020202020204" pitchFamily="34" charset="0"/>
              </a:rPr>
              <a:t>Monthly Fixed Payment ($)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B5EF8-0FC8-D186-80B2-C69629A8F37D}"/>
              </a:ext>
            </a:extLst>
          </p:cNvPr>
          <p:cNvSpPr txBox="1"/>
          <p:nvPr/>
        </p:nvSpPr>
        <p:spPr>
          <a:xfrm>
            <a:off x="838200" y="2363343"/>
            <a:ext cx="105156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What it is:</a:t>
            </a:r>
            <a:r>
              <a:rPr lang="en-US">
                <a:latin typeface="Aptos" panose="020B0004020202020204" pitchFamily="34" charset="0"/>
              </a:rPr>
              <a:t> Payment for the facility’s readiness and capability to deliver energy, covering all fixed costs.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How often it’s calculated:</a:t>
            </a:r>
            <a:r>
              <a:rPr lang="en-US">
                <a:latin typeface="Aptos" panose="020B0004020202020204" pitchFamily="34" charset="0"/>
              </a:rPr>
              <a:t> Once per billing period.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Why it matters:</a:t>
            </a:r>
            <a:r>
              <a:rPr lang="en-US">
                <a:latin typeface="Aptos" panose="020B0004020202020204" pitchFamily="34" charset="0"/>
              </a:rPr>
              <a:t> Ensures the Resource Provider is compensated even if energy isn’t delivered.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Calculation Impact:</a:t>
            </a:r>
            <a:r>
              <a:rPr lang="en-US">
                <a:latin typeface="Aptos" panose="020B0004020202020204" pitchFamily="34" charset="0"/>
              </a:rPr>
              <a:t> Uses facility capacity, availability, and PREPA risk adjustments to determine the amount.</a:t>
            </a:r>
          </a:p>
        </p:txBody>
      </p:sp>
    </p:spTree>
    <p:extLst>
      <p:ext uri="{BB962C8B-B14F-4D97-AF65-F5344CB8AC3E}">
        <p14:creationId xmlns:p14="http://schemas.microsoft.com/office/powerpoint/2010/main" val="276756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8D69-BDB5-7C44-0BE5-03430108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FF89-F5A0-6417-0204-C682527D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Monthly Fixed Payment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43130-214E-38EA-2947-56586CED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CDF93-84E2-8080-64BA-E1EB66C50AC0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5057B-7BE2-65B9-6FA0-567D14442AA7}"/>
              </a:ext>
            </a:extLst>
          </p:cNvPr>
          <p:cNvSpPr txBox="1"/>
          <p:nvPr/>
        </p:nvSpPr>
        <p:spPr>
          <a:xfrm>
            <a:off x="1034405" y="1417888"/>
            <a:ext cx="4249100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>
                <a:latin typeface="Aptos" panose="020B0004020202020204" pitchFamily="34" charset="0"/>
              </a:rPr>
              <a:t> = Capability Payment Price</a:t>
            </a:r>
          </a:p>
          <a:p>
            <a:pPr>
              <a:lnSpc>
                <a:spcPct val="200000"/>
              </a:lnSpc>
            </a:pPr>
            <a:r>
              <a:rPr lang="en-US" b="1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>
                <a:latin typeface="Aptos" panose="020B0004020202020204" pitchFamily="34" charset="0"/>
              </a:rPr>
              <a:t> = Monthly Contract Capability</a:t>
            </a:r>
            <a:br>
              <a:rPr lang="en-US">
                <a:latin typeface="Aptos" panose="020B0004020202020204" pitchFamily="34" charset="0"/>
              </a:rPr>
            </a:br>
            <a:r>
              <a:rPr lang="en-US" b="1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>
                <a:latin typeface="Aptos" panose="020B0004020202020204" pitchFamily="34" charset="0"/>
              </a:rPr>
              <a:t> = Facility Availability Adjustment</a:t>
            </a:r>
          </a:p>
          <a:p>
            <a:pPr>
              <a:lnSpc>
                <a:spcPct val="200000"/>
              </a:lnSpc>
            </a:pPr>
            <a:r>
              <a:rPr lang="en-US" b="1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  <a:r>
              <a:rPr lang="en-US">
                <a:latin typeface="Aptos" panose="020B0004020202020204" pitchFamily="34" charset="0"/>
              </a:rPr>
              <a:t> = PREPA Risk Adjustment</a:t>
            </a:r>
          </a:p>
          <a:p>
            <a:pPr>
              <a:lnSpc>
                <a:spcPct val="200000"/>
              </a:lnSpc>
            </a:pPr>
            <a:endParaRPr lang="en-US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531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B852-B427-54A9-5642-52164501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4B96-63BC-F620-31F5-390D57B1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Capability Payment Price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BB095-282F-EE25-2066-A7C24EDA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5F811-3F8E-26D9-9881-2BC108FE0813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E124CDEA-FD2D-BFBD-C63A-45C900B588B1}"/>
              </a:ext>
            </a:extLst>
          </p:cNvPr>
          <p:cNvSpPr txBox="1">
            <a:spLocks/>
          </p:cNvSpPr>
          <p:nvPr/>
        </p:nvSpPr>
        <p:spPr>
          <a:xfrm>
            <a:off x="838200" y="1467521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r>
              <a:rPr lang="en-US" b="0">
                <a:latin typeface="Aptos" panose="020B0004020202020204" pitchFamily="34" charset="0"/>
              </a:rPr>
              <a:t>Capability Payment Price ($)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9DBE1-7BAB-4792-0A85-CCC848BACBEA}"/>
              </a:ext>
            </a:extLst>
          </p:cNvPr>
          <p:cNvSpPr txBox="1"/>
          <p:nvPr/>
        </p:nvSpPr>
        <p:spPr>
          <a:xfrm>
            <a:off x="838200" y="2261961"/>
            <a:ext cx="1062493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What it is:</a:t>
            </a:r>
            <a:r>
              <a:rPr lang="en-US">
                <a:latin typeface="Aptos" panose="020B0004020202020204" pitchFamily="34" charset="0"/>
              </a:rPr>
              <a:t> The base price paid per unit of capacity, combining project costs and interconnection costs.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How often it’s calculated:</a:t>
            </a:r>
            <a:r>
              <a:rPr lang="en-US">
                <a:latin typeface="Aptos" panose="020B0004020202020204" pitchFamily="34" charset="0"/>
              </a:rPr>
              <a:t> Set by Agreement Year and applied each billing period.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Why it matters:</a:t>
            </a:r>
            <a:r>
              <a:rPr lang="en-US">
                <a:latin typeface="Aptos" panose="020B0004020202020204" pitchFamily="34" charset="0"/>
              </a:rPr>
              <a:t> Determines the core rate used to calculate the Monthly Fixed Payment.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Calculation Impact:</a:t>
            </a:r>
            <a:r>
              <a:rPr lang="en-US">
                <a:latin typeface="Aptos" panose="020B0004020202020204" pitchFamily="34" charset="0"/>
              </a:rPr>
              <a:t> Based on fixed yearly rates, with possible adjustments for financing changes or interconnection cost differences.</a:t>
            </a:r>
          </a:p>
        </p:txBody>
      </p:sp>
    </p:spTree>
    <p:extLst>
      <p:ext uri="{BB962C8B-B14F-4D97-AF65-F5344CB8AC3E}">
        <p14:creationId xmlns:p14="http://schemas.microsoft.com/office/powerpoint/2010/main" val="310021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8A7C-8DB2-311F-9D1E-D6454641D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C466-0C3F-28C8-2097-DE3D4FD4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Capability Payment Price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FE565-9054-F0EC-2638-BEA2F2CE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04DDB-4706-F721-08E4-DBCD5586AD95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DD405A5-EB24-62CE-D0D1-406DBD8DEE43}"/>
              </a:ext>
            </a:extLst>
          </p:cNvPr>
          <p:cNvSpPr/>
          <p:nvPr/>
        </p:nvSpPr>
        <p:spPr>
          <a:xfrm rot="5400000">
            <a:off x="3024858" y="-620613"/>
            <a:ext cx="1032641" cy="5109643"/>
          </a:xfrm>
          <a:prstGeom prst="leftBrace">
            <a:avLst>
              <a:gd name="adj1" fmla="val 41921"/>
              <a:gd name="adj2" fmla="val 72257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206CF-B37E-4282-C280-852F624C8693}"/>
              </a:ext>
            </a:extLst>
          </p:cNvPr>
          <p:cNvSpPr txBox="1"/>
          <p:nvPr/>
        </p:nvSpPr>
        <p:spPr>
          <a:xfrm>
            <a:off x="1001110" y="2762456"/>
            <a:ext cx="106276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</a:rPr>
              <a:t>CPPF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Fixed payment to cover the facility’s project costs, excluding PREPA interconnection work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 b="1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CPPPIF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Fixed payment to cover the costs of PREPA Interconnection Facilities Work</a:t>
            </a:r>
          </a:p>
          <a:p>
            <a:endParaRPr lang="en-US" sz="2400">
              <a:solidFill>
                <a:schemeClr val="accent4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400" b="1">
                <a:solidFill>
                  <a:srgbClr val="1B275B"/>
                </a:solidFill>
                <a:latin typeface="Aptos" panose="020B0004020202020204" pitchFamily="34" charset="0"/>
              </a:rPr>
              <a:t>Both increase by 2% each agreement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2C5AB-3E6E-EEF0-3870-27F970F481C1}"/>
              </a:ext>
            </a:extLst>
          </p:cNvPr>
          <p:cNvSpPr txBox="1"/>
          <p:nvPr/>
        </p:nvSpPr>
        <p:spPr>
          <a:xfrm>
            <a:off x="1407077" y="1983711"/>
            <a:ext cx="5833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200">
                <a:latin typeface="Aptos" panose="020B0004020202020204" pitchFamily="34" charset="0"/>
              </a:rPr>
              <a:t>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=</a:t>
            </a:r>
            <a:r>
              <a:rPr lang="en-US" sz="3200">
                <a:latin typeface="Aptos" panose="020B0004020202020204" pitchFamily="34" charset="0"/>
              </a:rPr>
              <a:t> </a:t>
            </a:r>
            <a:r>
              <a:rPr lang="en-US" sz="320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</a:rPr>
              <a:t>CPPF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+ </a:t>
            </a:r>
            <a:r>
              <a:rPr lang="en-US" sz="320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CPPPIF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endParaRPr lang="en-US" sz="320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35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A388A-F34B-B2BD-EE46-EBE9AD45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7DBC-AF81-446D-0490-34BC7750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Monthly Contract Capability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DC6C5-7728-7C82-3F1A-0BFD89B6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15480-B36C-E858-EDFF-3944DBB911EB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E02F3B7A-B28D-4D3D-036F-5D2D3E36CCD4}"/>
              </a:ext>
            </a:extLst>
          </p:cNvPr>
          <p:cNvSpPr txBox="1">
            <a:spLocks/>
          </p:cNvSpPr>
          <p:nvPr/>
        </p:nvSpPr>
        <p:spPr>
          <a:xfrm>
            <a:off x="838200" y="1417888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r>
              <a:rPr lang="en-US" b="0">
                <a:latin typeface="Aptos" panose="020B0004020202020204" pitchFamily="34" charset="0"/>
              </a:rPr>
              <a:t>Monthly Contract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74F7B-4B85-B435-8227-C4ED141C1BCB}"/>
              </a:ext>
            </a:extLst>
          </p:cNvPr>
          <p:cNvSpPr txBox="1"/>
          <p:nvPr/>
        </p:nvSpPr>
        <p:spPr>
          <a:xfrm>
            <a:off x="838199" y="2189445"/>
            <a:ext cx="10778067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What it is:</a:t>
            </a:r>
            <a:r>
              <a:rPr lang="en-US">
                <a:latin typeface="Aptos" panose="020B0004020202020204" pitchFamily="34" charset="0"/>
              </a:rPr>
              <a:t> The adjusted capacity the facility is contractually able to deliver each month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How often it’s calculated:</a:t>
            </a:r>
            <a:r>
              <a:rPr lang="en-US">
                <a:latin typeface="Aptos" panose="020B0004020202020204" pitchFamily="34" charset="0"/>
              </a:rPr>
              <a:t> Initially at commercial operation, then updated annually and after performance tests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Why it matters:</a:t>
            </a:r>
            <a:r>
              <a:rPr lang="en-US">
                <a:latin typeface="Aptos" panose="020B0004020202020204" pitchFamily="34" charset="0"/>
              </a:rPr>
              <a:t> Reflects degradation and actual performance, directly impacting payments.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Calculation Impact:</a:t>
            </a:r>
            <a:r>
              <a:rPr lang="en-US">
                <a:latin typeface="Aptos" panose="020B0004020202020204" pitchFamily="34" charset="0"/>
              </a:rPr>
              <a:t> Set to the lower of degraded capacity or tested performance results</a:t>
            </a:r>
          </a:p>
        </p:txBody>
      </p:sp>
    </p:spTree>
    <p:extLst>
      <p:ext uri="{BB962C8B-B14F-4D97-AF65-F5344CB8AC3E}">
        <p14:creationId xmlns:p14="http://schemas.microsoft.com/office/powerpoint/2010/main" val="410620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CD58-33CA-BFEF-6C2C-A46FCF5A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BC13-EF10-3107-AFD8-1BED9AEC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Monthly Contract Capability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723B2-0B62-C632-71AB-E5D6A676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0E543-3AB5-0242-5549-88CEF6527705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DDC2822-1476-0FFD-4831-C3C4E8929F2F}"/>
              </a:ext>
            </a:extLst>
          </p:cNvPr>
          <p:cNvSpPr/>
          <p:nvPr/>
        </p:nvSpPr>
        <p:spPr>
          <a:xfrm rot="5400000">
            <a:off x="4461771" y="-1023385"/>
            <a:ext cx="1032641" cy="5915187"/>
          </a:xfrm>
          <a:prstGeom prst="leftBrace">
            <a:avLst>
              <a:gd name="adj1" fmla="val 41921"/>
              <a:gd name="adj2" fmla="val 71406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6F1FE-A9A2-2230-7C73-30F7733931B9}"/>
              </a:ext>
            </a:extLst>
          </p:cNvPr>
          <p:cNvSpPr txBox="1"/>
          <p:nvPr/>
        </p:nvSpPr>
        <p:spPr>
          <a:xfrm>
            <a:off x="2528305" y="2027254"/>
            <a:ext cx="5833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200">
                <a:latin typeface="Aptos" panose="020B0004020202020204" pitchFamily="34" charset="0"/>
              </a:rPr>
              <a:t>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= min[</a:t>
            </a:r>
            <a:r>
              <a:rPr lang="en-US" sz="320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DDE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 / </a:t>
            </a:r>
            <a:r>
              <a:rPr lang="en-US" sz="32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DDD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US" sz="320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TR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]</a:t>
            </a:r>
            <a:endParaRPr lang="en-US" sz="320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FE6C5-D5B1-74ED-13F9-6FC9D94CF94C}"/>
              </a:ext>
            </a:extLst>
          </p:cNvPr>
          <p:cNvSpPr txBox="1"/>
          <p:nvPr/>
        </p:nvSpPr>
        <p:spPr>
          <a:xfrm>
            <a:off x="921596" y="2883978"/>
            <a:ext cx="1009022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DDE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solidFill>
                  <a:srgbClr val="1B275B"/>
                </a:solidFill>
                <a:latin typeface="Aptos" panose="020B0004020202020204" pitchFamily="34" charset="0"/>
              </a:rPr>
              <a:t>The reduced amount of energy the facility can deliver over time due to degradation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DDD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The original designed duration (energy capacity over time) of the facility at full performance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TR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The actual measured performance of the facility based on the most recent test</a:t>
            </a:r>
          </a:p>
        </p:txBody>
      </p:sp>
    </p:spTree>
    <p:extLst>
      <p:ext uri="{BB962C8B-B14F-4D97-AF65-F5344CB8AC3E}">
        <p14:creationId xmlns:p14="http://schemas.microsoft.com/office/powerpoint/2010/main" val="3859079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63F2-8F41-D4AC-CD43-E13F86B6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62BD-3DCD-207F-187C-5CE2DEA9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1B275B"/>
                </a:solidFill>
                <a:latin typeface="Aptos" panose="020B0004020202020204" pitchFamily="34" charset="0"/>
              </a:rPr>
              <a:t>Monthly Contract Capability Calculation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7920-3427-25CC-6389-0109D43F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F573D-A754-C644-A563-941F5CE3627C}"/>
              </a:ext>
            </a:extLst>
          </p:cNvPr>
          <p:cNvSpPr txBox="1"/>
          <p:nvPr/>
        </p:nvSpPr>
        <p:spPr>
          <a:xfrm>
            <a:off x="575733" y="771557"/>
            <a:ext cx="10185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436120"/>
                </a:solidFill>
                <a:latin typeface="Aptos" panose="020B0004020202020204" pitchFamily="34" charset="0"/>
              </a:rPr>
              <a:t>MCC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= </a:t>
            </a:r>
            <a:r>
              <a:rPr lang="en-US" sz="3200" b="1">
                <a:solidFill>
                  <a:srgbClr val="86C041"/>
                </a:solidFill>
                <a:latin typeface="Aptos" panose="020B0004020202020204" pitchFamily="34" charset="0"/>
              </a:rPr>
              <a:t>min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[200/4 , 55] = 50 </a:t>
            </a:r>
            <a:r>
              <a:rPr lang="en-US" sz="3200" b="1">
                <a:latin typeface="Aptos" panose="020B0004020202020204" pitchFamily="34" charset="0"/>
              </a:rPr>
              <a:t>→ MCC = 50 MW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2267E-6271-1106-39ED-86A3648F3E0E}"/>
              </a:ext>
            </a:extLst>
          </p:cNvPr>
          <p:cNvSpPr txBox="1"/>
          <p:nvPr/>
        </p:nvSpPr>
        <p:spPr>
          <a:xfrm>
            <a:off x="921597" y="1483685"/>
            <a:ext cx="103560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Scenario: </a:t>
            </a:r>
            <a:r>
              <a:rPr lang="en-US" sz="2400">
                <a:latin typeface="Aptos" panose="020B0004020202020204" pitchFamily="34" charset="0"/>
              </a:rPr>
              <a:t>Post-degradation capacity test on a 4-hour BESS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DDE </a:t>
            </a:r>
            <a:r>
              <a:rPr lang="en-US" sz="2400">
                <a:latin typeface="Aptos" panose="020B0004020202020204" pitchFamily="34" charset="0"/>
              </a:rPr>
              <a:t>= 200 MWh      </a:t>
            </a:r>
            <a:r>
              <a:rPr lang="en-US" sz="24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DDD </a:t>
            </a:r>
            <a:r>
              <a:rPr lang="en-US" sz="2400">
                <a:latin typeface="Aptos" panose="020B0004020202020204" pitchFamily="34" charset="0"/>
              </a:rPr>
              <a:t>= 4 hrs      </a:t>
            </a:r>
            <a:r>
              <a:rPr lang="en-US" sz="2400" b="1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TR </a:t>
            </a:r>
            <a:r>
              <a:rPr lang="en-US" sz="2400">
                <a:latin typeface="Aptos" panose="020B0004020202020204" pitchFamily="34" charset="0"/>
              </a:rPr>
              <a:t>= 55 MW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Energy ratio:  </a:t>
            </a:r>
            <a:r>
              <a:rPr lang="en-US" sz="2400">
                <a:latin typeface="Aptos" panose="020B0004020202020204" pitchFamily="34" charset="0"/>
              </a:rPr>
              <a:t>DDE ÷ DDD = 200 ÷ 4 = 50 MW</a:t>
            </a: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Tested capability:  </a:t>
            </a:r>
            <a:r>
              <a:rPr lang="en-US" sz="2400">
                <a:latin typeface="Aptos" panose="020B0004020202020204" pitchFamily="34" charset="0"/>
              </a:rPr>
              <a:t>TR = 55 MW</a:t>
            </a: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MCC = min[50, 55] = 50 MW</a:t>
            </a: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Effect on MFP:  </a:t>
            </a:r>
            <a:r>
              <a:rPr lang="en-US" sz="2400">
                <a:latin typeface="Aptos" panose="020B0004020202020204" pitchFamily="34" charset="0"/>
              </a:rPr>
              <a:t>monthly payment scaled by </a:t>
            </a:r>
            <a:r>
              <a:rPr lang="en-US" sz="2400" b="1">
                <a:solidFill>
                  <a:srgbClr val="86C041"/>
                </a:solidFill>
                <a:latin typeface="Aptos" panose="020B0004020202020204" pitchFamily="34" charset="0"/>
              </a:rPr>
              <a:t>91%</a:t>
            </a:r>
          </a:p>
        </p:txBody>
      </p:sp>
    </p:spTree>
    <p:extLst>
      <p:ext uri="{BB962C8B-B14F-4D97-AF65-F5344CB8AC3E}">
        <p14:creationId xmlns:p14="http://schemas.microsoft.com/office/powerpoint/2010/main" val="327484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1A50-B9C8-C4B1-31BC-87D523C2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93C0-F95D-F797-EF74-F70EDE6F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Facility Availability Adjustment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8A9CF-AB8B-BA55-FD38-4531A60B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B6BE4-E6B8-91D5-8F09-CB8485826D8A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1B275B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50BAE870-1BAB-59BA-6F7F-827BDC24610F}"/>
              </a:ext>
            </a:extLst>
          </p:cNvPr>
          <p:cNvSpPr txBox="1">
            <a:spLocks/>
          </p:cNvSpPr>
          <p:nvPr/>
        </p:nvSpPr>
        <p:spPr>
          <a:xfrm>
            <a:off x="838199" y="1417888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r>
              <a:rPr lang="en-US" b="0">
                <a:latin typeface="Aptos" panose="020B0004020202020204" pitchFamily="34" charset="0"/>
              </a:rPr>
              <a:t>Facility Availability Adjustment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DFD5E-9B1A-6F04-13EB-F719482197AA}"/>
              </a:ext>
            </a:extLst>
          </p:cNvPr>
          <p:cNvSpPr txBox="1"/>
          <p:nvPr/>
        </p:nvSpPr>
        <p:spPr>
          <a:xfrm>
            <a:off x="838199" y="2189445"/>
            <a:ext cx="9329058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What it is:</a:t>
            </a:r>
            <a:r>
              <a:rPr lang="en-US">
                <a:latin typeface="Aptos" panose="020B0004020202020204" pitchFamily="34" charset="0"/>
              </a:rPr>
              <a:t> A performance adjustment based on how available the facility is to deliver or receive energy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How often it’s calculated:</a:t>
            </a:r>
            <a:r>
              <a:rPr lang="en-US">
                <a:latin typeface="Aptos" panose="020B0004020202020204" pitchFamily="34" charset="0"/>
              </a:rPr>
              <a:t> Once per billing period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Why it matters:</a:t>
            </a:r>
            <a:r>
              <a:rPr lang="en-US">
                <a:latin typeface="Aptos" panose="020B0004020202020204" pitchFamily="34" charset="0"/>
              </a:rPr>
              <a:t> Reduces payments if the facility is not sufficiently available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Calculation Impact:</a:t>
            </a:r>
            <a:r>
              <a:rPr lang="en-US">
                <a:latin typeface="Aptos" panose="020B0004020202020204" pitchFamily="34" charset="0"/>
              </a:rPr>
              <a:t> Based on total hours vs. outage hours, with payment reduced if availability falls below 98% and zeroed out below 70%</a:t>
            </a:r>
          </a:p>
        </p:txBody>
      </p:sp>
    </p:spTree>
    <p:extLst>
      <p:ext uri="{BB962C8B-B14F-4D97-AF65-F5344CB8AC3E}">
        <p14:creationId xmlns:p14="http://schemas.microsoft.com/office/powerpoint/2010/main" val="24547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746B-D7F5-034D-6195-9044013A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85B0-268B-5F5B-6672-7E63B96E4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Facility Availability Adjustment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42758-B69F-95EA-8873-351C4186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CD332-03C8-578B-4C56-CD68E1A3275F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1B275B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6E6A23-8EE0-EFA4-49AC-8A784D179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88263"/>
              </p:ext>
            </p:extLst>
          </p:nvPr>
        </p:nvGraphicFramePr>
        <p:xfrm>
          <a:off x="1077843" y="1571294"/>
          <a:ext cx="8128000" cy="2477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326316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57222485"/>
                    </a:ext>
                  </a:extLst>
                </a:gridCol>
              </a:tblGrid>
              <a:tr h="418648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Facility Availability (FA)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FAA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75521"/>
                  </a:ext>
                </a:extLst>
              </a:tr>
              <a:tr h="747634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Greater than or equal to ninety-eight percent (98%)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One hundred percent (100%)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01661"/>
                  </a:ext>
                </a:extLst>
              </a:tr>
              <a:tr h="75005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Less than ninety-eight percent (98%) but greater than seventy percent (70%)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One hundred percent (100%) –</a:t>
                      </a:r>
                    </a:p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 [(ninety-eight percent (98%) – FA)] x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114272"/>
                  </a:ext>
                </a:extLst>
              </a:tr>
              <a:tr h="560909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Less than seventy percent (70%)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Aptos" panose="020B0004020202020204" pitchFamily="34" charset="0"/>
                        </a:rPr>
                        <a:t>Zero percent (0%)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79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3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63F2-8F41-D4AC-CD43-E13F86B6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62BD-3DCD-207F-187C-5CE2DEA9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Facility Availability Calculation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7920-3427-25CC-6389-0109D43F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EF573D-A754-C644-A563-941F5CE3627C}"/>
                  </a:ext>
                </a:extLst>
              </p:cNvPr>
              <p:cNvSpPr txBox="1"/>
              <p:nvPr/>
            </p:nvSpPr>
            <p:spPr>
              <a:xfrm>
                <a:off x="575733" y="771557"/>
                <a:ext cx="10185572" cy="974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FA </a:t>
                </a:r>
                <a:r>
                  <a:rPr lang="en-US" sz="3600">
                    <a:solidFill>
                      <a:srgbClr val="86C041"/>
                    </a:solidFill>
                    <a:latin typeface="Aptos" panose="020B00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 dirty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– (</m:t>
                        </m:r>
                        <m:r>
                          <m:rPr>
                            <m:nor/>
                          </m:rPr>
                          <a:rPr lang="en-US" sz="3600" dirty="0" smtClean="0">
                            <a:solidFill>
                              <a:schemeClr val="accent4"/>
                            </a:solidFill>
                            <a:latin typeface="Aptos" panose="020B0004020202020204" pitchFamily="34" charset="0"/>
                          </a:rPr>
                          <m:t>PO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3600" dirty="0" smtClean="0">
                            <a:solidFill>
                              <a:schemeClr val="accent2"/>
                            </a:solidFill>
                            <a:latin typeface="Aptos" panose="020B0004020202020204" pitchFamily="34" charset="0"/>
                          </a:rPr>
                          <m:t>UNAV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360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Aptos" panose="020B0004020202020204" pitchFamily="34" charset="0"/>
                          </a:rPr>
                          <m:t>UNAVPROD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600" dirty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sz="3600" dirty="0" smtClean="0">
                            <a:solidFill>
                              <a:schemeClr val="accent4"/>
                            </a:solidFill>
                            <a:latin typeface="Aptos" panose="020B0004020202020204" pitchFamily="34" charset="0"/>
                          </a:rPr>
                          <m:t>PO</m:t>
                        </m:r>
                      </m:den>
                    </m:f>
                  </m:oMath>
                </a14:m>
                <a:r>
                  <a:rPr lang="en-US" sz="3600">
                    <a:solidFill>
                      <a:srgbClr val="86C041"/>
                    </a:solidFill>
                    <a:latin typeface="Aptos" panose="020B0004020202020204" pitchFamily="34" charset="0"/>
                  </a:rPr>
                  <a:t> </a:t>
                </a:r>
                <a:endParaRPr lang="en-US" sz="3600" b="1">
                  <a:solidFill>
                    <a:srgbClr val="86C04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EF573D-A754-C644-A563-941F5CE36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33" y="771557"/>
                <a:ext cx="10185572" cy="974241"/>
              </a:xfrm>
              <a:prstGeom prst="rect">
                <a:avLst/>
              </a:prstGeom>
              <a:blipFill>
                <a:blip r:embed="rId2"/>
                <a:stretch>
                  <a:fillRect l="-1795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8E2267E-6271-1106-39ED-86A3648F3E0E}"/>
              </a:ext>
            </a:extLst>
          </p:cNvPr>
          <p:cNvSpPr txBox="1"/>
          <p:nvPr/>
        </p:nvSpPr>
        <p:spPr>
          <a:xfrm>
            <a:off x="1001110" y="1934259"/>
            <a:ext cx="100902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956DF"/>
                </a:solidFill>
                <a:latin typeface="Aptos" panose="020B0004020202020204" pitchFamily="34" charset="0"/>
              </a:rPr>
              <a:t>BP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Total number of hours in the billing period</a:t>
            </a:r>
          </a:p>
          <a:p>
            <a:br>
              <a:rPr lang="en-US" sz="2400">
                <a:latin typeface="Aptos" panose="020B0004020202020204" pitchFamily="34" charset="0"/>
              </a:rPr>
            </a:br>
            <a:r>
              <a:rPr lang="en-US" sz="2400" b="1">
                <a:solidFill>
                  <a:schemeClr val="accent4"/>
                </a:solidFill>
                <a:latin typeface="Aptos" panose="020B0004020202020204" pitchFamily="34" charset="0"/>
              </a:rPr>
              <a:t>PO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Allowed outage hours (e.g., scheduled maintenance or approved events)</a:t>
            </a:r>
          </a:p>
          <a:p>
            <a:br>
              <a:rPr lang="en-US" sz="2400">
                <a:latin typeface="Aptos" panose="020B0004020202020204" pitchFamily="34" charset="0"/>
              </a:rPr>
            </a:br>
            <a:r>
              <a:rPr lang="en-US" sz="2400" b="1">
                <a:solidFill>
                  <a:schemeClr val="accent2"/>
                </a:solidFill>
                <a:latin typeface="Aptos" panose="020B0004020202020204" pitchFamily="34" charset="0"/>
              </a:rPr>
              <a:t>UNAV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Unplanned or unapproved outage hours when the facility couldn’t deliver or receive energy</a:t>
            </a:r>
          </a:p>
          <a:p>
            <a:br>
              <a:rPr lang="en-US" sz="2400">
                <a:latin typeface="Aptos" panose="020B0004020202020204" pitchFamily="34" charset="0"/>
              </a:rPr>
            </a:br>
            <a:r>
              <a:rPr lang="en-US" sz="24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UNAVPROD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400">
                <a:latin typeface="Aptos" panose="020B0004020202020204" pitchFamily="34" charset="0"/>
              </a:rPr>
              <a:t>Hours when the facility couldn’t provide non-energy services (but could still deliver energy)</a:t>
            </a:r>
          </a:p>
        </p:txBody>
      </p:sp>
    </p:spTree>
    <p:extLst>
      <p:ext uri="{BB962C8B-B14F-4D97-AF65-F5344CB8AC3E}">
        <p14:creationId xmlns:p14="http://schemas.microsoft.com/office/powerpoint/2010/main" val="1826651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63F2-8F41-D4AC-CD43-E13F86B6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62BD-3DCD-207F-187C-5CE2DEA9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Facility Availability Calculation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7920-3427-25CC-6389-0109D43F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F573D-A754-C644-A563-941F5CE3627C}"/>
              </a:ext>
            </a:extLst>
          </p:cNvPr>
          <p:cNvSpPr txBox="1"/>
          <p:nvPr/>
        </p:nvSpPr>
        <p:spPr>
          <a:xfrm>
            <a:off x="575733" y="771557"/>
            <a:ext cx="97330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Aptos" panose="020B0004020202020204" pitchFamily="34" charset="0"/>
              </a:rPr>
              <a:t>FA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= (744 − 40 − 18 − 5) ÷ 744 = 681 ÷ 744 = </a:t>
            </a:r>
            <a:r>
              <a:rPr lang="en-US" sz="3200" b="1">
                <a:solidFill>
                  <a:srgbClr val="86C041"/>
                </a:solidFill>
                <a:latin typeface="Aptos" panose="020B0004020202020204" pitchFamily="34" charset="0"/>
              </a:rPr>
              <a:t>91.53%</a:t>
            </a:r>
            <a:r>
              <a:rPr lang="en-US" sz="3200">
                <a:latin typeface="Aptos" panose="020B0004020202020204" pitchFamily="34" charset="0"/>
              </a:rPr>
              <a:t> </a:t>
            </a:r>
            <a:r>
              <a:rPr lang="en-US" sz="3200" b="1">
                <a:latin typeface="Aptos" panose="020B0004020202020204" pitchFamily="34" charset="0"/>
              </a:rPr>
              <a:t>→ FAA = 87.06%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2267E-6271-1106-39ED-86A3648F3E0E}"/>
              </a:ext>
            </a:extLst>
          </p:cNvPr>
          <p:cNvSpPr txBox="1"/>
          <p:nvPr/>
        </p:nvSpPr>
        <p:spPr>
          <a:xfrm>
            <a:off x="1001110" y="2517355"/>
            <a:ext cx="108420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Scenario: </a:t>
            </a:r>
            <a:r>
              <a:rPr lang="en-US" sz="2400">
                <a:latin typeface="Aptos" panose="020B0004020202020204" pitchFamily="34" charset="0"/>
              </a:rPr>
              <a:t>31-day billing period (744 hrs), Month 3, Year 2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solidFill>
                  <a:srgbClr val="0956DF"/>
                </a:solidFill>
                <a:latin typeface="Aptos" panose="020B0004020202020204" pitchFamily="34" charset="0"/>
              </a:rPr>
              <a:t>BP </a:t>
            </a:r>
            <a:r>
              <a:rPr lang="en-US" sz="2400">
                <a:latin typeface="Aptos" panose="020B0004020202020204" pitchFamily="34" charset="0"/>
              </a:rPr>
              <a:t>= 744 hrs      </a:t>
            </a:r>
            <a:r>
              <a:rPr lang="en-US" sz="2400" b="1">
                <a:solidFill>
                  <a:schemeClr val="accent4"/>
                </a:solidFill>
                <a:latin typeface="Aptos" panose="020B0004020202020204" pitchFamily="34" charset="0"/>
              </a:rPr>
              <a:t>PO </a:t>
            </a:r>
            <a:r>
              <a:rPr lang="en-US" sz="2400">
                <a:latin typeface="Aptos" panose="020B0004020202020204" pitchFamily="34" charset="0"/>
              </a:rPr>
              <a:t>= 40 hrs      </a:t>
            </a:r>
            <a:r>
              <a:rPr lang="en-US" sz="2400" b="1">
                <a:solidFill>
                  <a:schemeClr val="accent2"/>
                </a:solidFill>
                <a:latin typeface="Aptos" panose="020B0004020202020204" pitchFamily="34" charset="0"/>
              </a:rPr>
              <a:t>UNAV </a:t>
            </a:r>
            <a:r>
              <a:rPr lang="en-US" sz="2400">
                <a:latin typeface="Aptos" panose="020B0004020202020204" pitchFamily="34" charset="0"/>
              </a:rPr>
              <a:t>= 18 hrs      </a:t>
            </a:r>
            <a:r>
              <a:rPr lang="en-US" sz="24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UNAVPROD </a:t>
            </a:r>
            <a:r>
              <a:rPr lang="en-US" sz="2400">
                <a:latin typeface="Aptos" panose="020B0004020202020204" pitchFamily="34" charset="0"/>
              </a:rPr>
              <a:t>= 5 hrs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Numerator: </a:t>
            </a:r>
            <a:r>
              <a:rPr lang="en-US" sz="2400">
                <a:latin typeface="Aptos" panose="020B0004020202020204" pitchFamily="34" charset="0"/>
              </a:rPr>
              <a:t>744 − (40 + 18 + 5) = 681 hrs available</a:t>
            </a: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Denominator: </a:t>
            </a:r>
            <a:r>
              <a:rPr lang="en-US" sz="2400">
                <a:latin typeface="Aptos" panose="020B0004020202020204" pitchFamily="34" charset="0"/>
              </a:rPr>
              <a:t>BP = 744 hrs</a:t>
            </a: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FA = 681 ÷ 744 = </a:t>
            </a:r>
            <a:r>
              <a:rPr lang="en-US" sz="2400" b="1">
                <a:solidFill>
                  <a:srgbClr val="86C041"/>
                </a:solidFill>
                <a:latin typeface="Aptos" panose="020B0004020202020204" pitchFamily="34" charset="0"/>
              </a:rPr>
              <a:t>91.53%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FAA Tier:  </a:t>
            </a:r>
            <a:r>
              <a:rPr lang="en-US" sz="2400">
                <a:latin typeface="Aptos" panose="020B0004020202020204" pitchFamily="34" charset="0"/>
              </a:rPr>
              <a:t>70% &lt; FA &lt; 98% → 100% − (98% − 91.53%) × 2 → </a:t>
            </a:r>
            <a:r>
              <a:rPr lang="en-US" sz="2400" b="1">
                <a:solidFill>
                  <a:srgbClr val="86C041"/>
                </a:solidFill>
                <a:latin typeface="Aptos" panose="020B0004020202020204" pitchFamily="34" charset="0"/>
              </a:rPr>
              <a:t>FAA = 87.06%</a:t>
            </a:r>
          </a:p>
        </p:txBody>
      </p:sp>
    </p:spTree>
    <p:extLst>
      <p:ext uri="{BB962C8B-B14F-4D97-AF65-F5344CB8AC3E}">
        <p14:creationId xmlns:p14="http://schemas.microsoft.com/office/powerpoint/2010/main" val="93074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58C6-9CDA-589F-602A-0C26AA82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16CC-BCDF-CF3E-F5D3-BEA21D2B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Facility Availability Adjustment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CA042-BB87-088C-15EB-08321AF6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753B0-2489-BB8E-41D1-C294BE185CF5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BE0DBDEF-201B-B474-D366-C9F4CCDF27AA}"/>
              </a:ext>
            </a:extLst>
          </p:cNvPr>
          <p:cNvSpPr txBox="1">
            <a:spLocks/>
          </p:cNvSpPr>
          <p:nvPr/>
        </p:nvSpPr>
        <p:spPr>
          <a:xfrm>
            <a:off x="838200" y="1765695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r>
              <a:rPr lang="en-US" b="0">
                <a:latin typeface="Aptos" panose="020B0004020202020204" pitchFamily="34" charset="0"/>
              </a:rPr>
              <a:t>PREPA Risk Adjustment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91A72-F1B3-E7F8-E8B9-63E8C39A5A75}"/>
              </a:ext>
            </a:extLst>
          </p:cNvPr>
          <p:cNvSpPr txBox="1"/>
          <p:nvPr/>
        </p:nvSpPr>
        <p:spPr>
          <a:xfrm>
            <a:off x="838199" y="2672778"/>
            <a:ext cx="9329058" cy="2960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What it is:</a:t>
            </a:r>
            <a:r>
              <a:rPr lang="en-US">
                <a:latin typeface="Aptos" panose="020B0004020202020204" pitchFamily="34" charset="0"/>
              </a:rPr>
              <a:t> An adjustment that reduces payment for periods impacted by PREPA-related risks (e.g., grid events, force majeure, insurance-covered events)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How often it’s calculated:</a:t>
            </a:r>
            <a:r>
              <a:rPr lang="en-US">
                <a:latin typeface="Aptos" panose="020B0004020202020204" pitchFamily="34" charset="0"/>
              </a:rPr>
              <a:t> Once per billing period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Why it matters:</a:t>
            </a:r>
            <a:r>
              <a:rPr lang="en-US">
                <a:latin typeface="Aptos" panose="020B0004020202020204" pitchFamily="34" charset="0"/>
              </a:rPr>
              <a:t> Ensures the Resource Provider is not paid for downtime caused by PREPA or covered risk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ptos" panose="020B0004020202020204" pitchFamily="34" charset="0"/>
              </a:rPr>
              <a:t>Calculation Impact:</a:t>
            </a:r>
            <a:r>
              <a:rPr lang="en-US">
                <a:latin typeface="Aptos" panose="020B0004020202020204" pitchFamily="34" charset="0"/>
              </a:rPr>
              <a:t> Based on total hours minus qualifying risk-event hours, reducing the overall payment proportionally</a:t>
            </a:r>
          </a:p>
        </p:txBody>
      </p:sp>
    </p:spTree>
    <p:extLst>
      <p:ext uri="{BB962C8B-B14F-4D97-AF65-F5344CB8AC3E}">
        <p14:creationId xmlns:p14="http://schemas.microsoft.com/office/powerpoint/2010/main" val="3222635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84420-C082-95E0-4790-11B20426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F194-C0DE-0862-99D2-1644C633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Facility Availability Adjustment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C31C5-2F39-3508-9E15-1DBE06AFB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99F8D-1626-3070-2BD7-C591969683DA}"/>
              </a:ext>
            </a:extLst>
          </p:cNvPr>
          <p:cNvSpPr txBox="1"/>
          <p:nvPr/>
        </p:nvSpPr>
        <p:spPr>
          <a:xfrm>
            <a:off x="575733" y="771557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highlight>
                  <a:srgbClr val="00FF00"/>
                </a:highlight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4FC0ABE-6056-03A1-A63F-74AF423D7672}"/>
              </a:ext>
            </a:extLst>
          </p:cNvPr>
          <p:cNvSpPr/>
          <p:nvPr/>
        </p:nvSpPr>
        <p:spPr>
          <a:xfrm rot="5400000">
            <a:off x="5659200" y="-1023385"/>
            <a:ext cx="1032641" cy="5915187"/>
          </a:xfrm>
          <a:prstGeom prst="leftBrace">
            <a:avLst>
              <a:gd name="adj1" fmla="val 41921"/>
              <a:gd name="adj2" fmla="val 50059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25A25D-7AC8-9030-5306-4A1006558903}"/>
                  </a:ext>
                </a:extLst>
              </p:cNvPr>
              <p:cNvSpPr txBox="1"/>
              <p:nvPr/>
            </p:nvSpPr>
            <p:spPr>
              <a:xfrm>
                <a:off x="3584219" y="2016369"/>
                <a:ext cx="5833242" cy="872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>
                    <a:solidFill>
                      <a:schemeClr val="accent4"/>
                    </a:solidFill>
                    <a:latin typeface="Aptos" panose="020B0004020202020204" pitchFamily="34" charset="0"/>
                  </a:rPr>
                  <a:t>PRA</a:t>
                </a:r>
                <a:r>
                  <a:rPr lang="en-US" sz="3200">
                    <a:latin typeface="Aptos" panose="020B0004020202020204" pitchFamily="34" charset="0"/>
                  </a:rPr>
                  <a:t> </a:t>
                </a:r>
                <a:r>
                  <a:rPr lang="en-US" sz="3200">
                    <a:solidFill>
                      <a:srgbClr val="000000"/>
                    </a:solidFill>
                    <a:latin typeface="Aptos" panose="020B000402020202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dirty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  <m:r>
                          <m:rPr>
                            <m:nor/>
                          </m:rPr>
                          <a:rPr lang="en-US" sz="32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– (</m:t>
                        </m:r>
                        <m:r>
                          <m:rPr>
                            <m:nor/>
                          </m:rPr>
                          <a:rPr lang="en-US" sz="3200" dirty="0" smtClean="0">
                            <a:solidFill>
                              <a:srgbClr val="17214C"/>
                            </a:solidFill>
                            <a:latin typeface="Aptos" panose="020B0004020202020204" pitchFamily="34" charset="0"/>
                          </a:rPr>
                          <m:t>GSE</m:t>
                        </m:r>
                        <m:r>
                          <m:rPr>
                            <m:nor/>
                          </m:rPr>
                          <a:rPr lang="en-US" sz="32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3200" dirty="0" smtClean="0">
                            <a:solidFill>
                              <a:srgbClr val="5B9BD5"/>
                            </a:solidFill>
                            <a:latin typeface="Aptos" panose="020B0004020202020204" pitchFamily="34" charset="0"/>
                          </a:rPr>
                          <m:t>PFM</m:t>
                        </m:r>
                        <m:r>
                          <m:rPr>
                            <m:nor/>
                          </m:rPr>
                          <a:rPr lang="en-US" sz="32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3200" dirty="0" smtClean="0">
                            <a:solidFill>
                              <a:schemeClr val="accent6"/>
                            </a:solidFill>
                            <a:latin typeface="Aptos" panose="020B0004020202020204" pitchFamily="34" charset="0"/>
                          </a:rPr>
                          <m:t>IP</m:t>
                        </m:r>
                        <m:r>
                          <m:rPr>
                            <m:nor/>
                          </m:rPr>
                          <a:rPr lang="en-US" sz="32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200" b="0" i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</m:den>
                    </m:f>
                  </m:oMath>
                </a14:m>
                <a:endParaRPr lang="en-US" sz="320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25A25D-7AC8-9030-5306-4A1006558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219" y="2016369"/>
                <a:ext cx="5833242" cy="872675"/>
              </a:xfrm>
              <a:prstGeom prst="rect">
                <a:avLst/>
              </a:prstGeom>
              <a:blipFill>
                <a:blip r:embed="rId2"/>
                <a:stretch>
                  <a:fillRect l="-2717" b="-12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6400863-5FC4-15CB-253C-CF501DBE6B80}"/>
              </a:ext>
            </a:extLst>
          </p:cNvPr>
          <p:cNvSpPr txBox="1"/>
          <p:nvPr/>
        </p:nvSpPr>
        <p:spPr>
          <a:xfrm>
            <a:off x="948750" y="3049010"/>
            <a:ext cx="100902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956DF"/>
                </a:solidFill>
                <a:latin typeface="Aptos" panose="020B0004020202020204" pitchFamily="34" charset="0"/>
              </a:rPr>
              <a:t>BP</a:t>
            </a:r>
            <a:r>
              <a:rPr lang="en-US" sz="2400" b="1">
                <a:latin typeface="Aptos" panose="020B0004020202020204" pitchFamily="34" charset="0"/>
              </a:rPr>
              <a:t>:</a:t>
            </a:r>
            <a:r>
              <a:rPr lang="en-US" sz="2400">
                <a:latin typeface="Aptos" panose="020B0004020202020204" pitchFamily="34" charset="0"/>
              </a:rPr>
              <a:t> Total number of hours in the billing period</a:t>
            </a:r>
          </a:p>
          <a:p>
            <a:br>
              <a:rPr lang="en-US" sz="2400">
                <a:latin typeface="Aptos" panose="020B0004020202020204" pitchFamily="34" charset="0"/>
              </a:rPr>
            </a:br>
            <a:r>
              <a:rPr lang="en-US" sz="2400" b="1">
                <a:solidFill>
                  <a:srgbClr val="17214C"/>
                </a:solidFill>
                <a:latin typeface="Aptos" panose="020B0004020202020204" pitchFamily="34" charset="0"/>
              </a:rPr>
              <a:t>GSE</a:t>
            </a:r>
            <a:r>
              <a:rPr lang="en-US" sz="2400" b="1">
                <a:latin typeface="Aptos" panose="020B0004020202020204" pitchFamily="34" charset="0"/>
              </a:rPr>
              <a:t>:</a:t>
            </a:r>
            <a:r>
              <a:rPr lang="en-US" sz="2400">
                <a:latin typeface="Aptos" panose="020B0004020202020204" pitchFamily="34" charset="0"/>
              </a:rPr>
              <a:t> Hours lost due to Grid System Events not caused by PREPA force majeure</a:t>
            </a:r>
          </a:p>
          <a:p>
            <a:br>
              <a:rPr lang="en-US" sz="2400">
                <a:latin typeface="Aptos" panose="020B0004020202020204" pitchFamily="34" charset="0"/>
              </a:rPr>
            </a:br>
            <a:r>
              <a:rPr lang="en-US" sz="2400" b="1">
                <a:solidFill>
                  <a:schemeClr val="accent2"/>
                </a:solidFill>
                <a:latin typeface="Aptos" panose="020B0004020202020204" pitchFamily="34" charset="0"/>
              </a:rPr>
              <a:t>PFM</a:t>
            </a:r>
            <a:r>
              <a:rPr lang="en-US" sz="2400" b="1">
                <a:latin typeface="Aptos" panose="020B0004020202020204" pitchFamily="34" charset="0"/>
              </a:rPr>
              <a:t>:</a:t>
            </a:r>
            <a:r>
              <a:rPr lang="en-US" sz="2400">
                <a:latin typeface="Aptos" panose="020B0004020202020204" pitchFamily="34" charset="0"/>
              </a:rPr>
              <a:t> Hours lost due to PREPA Force Majeure events</a:t>
            </a:r>
          </a:p>
          <a:p>
            <a:br>
              <a:rPr lang="en-US" sz="2400">
                <a:latin typeface="Aptos" panose="020B0004020202020204" pitchFamily="34" charset="0"/>
              </a:rPr>
            </a:br>
            <a:r>
              <a:rPr lang="en-US" sz="2400" b="1">
                <a:solidFill>
                  <a:schemeClr val="accent1"/>
                </a:solidFill>
                <a:latin typeface="Aptos" panose="020B0004020202020204" pitchFamily="34" charset="0"/>
              </a:rPr>
              <a:t>IP</a:t>
            </a:r>
            <a:r>
              <a:rPr lang="en-US" sz="2400" b="1">
                <a:latin typeface="Aptos" panose="020B0004020202020204" pitchFamily="34" charset="0"/>
              </a:rPr>
              <a:t>:</a:t>
            </a:r>
            <a:r>
              <a:rPr lang="en-US" sz="2400">
                <a:latin typeface="Aptos" panose="020B0004020202020204" pitchFamily="34" charset="0"/>
              </a:rPr>
              <a:t> Hours lost for events where the Resource Provider can recover insurance proceeds (e.g., business interruption)</a:t>
            </a:r>
          </a:p>
        </p:txBody>
      </p:sp>
    </p:spTree>
    <p:extLst>
      <p:ext uri="{BB962C8B-B14F-4D97-AF65-F5344CB8AC3E}">
        <p14:creationId xmlns:p14="http://schemas.microsoft.com/office/powerpoint/2010/main" val="3992107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63F2-8F41-D4AC-CD43-E13F86B6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62BD-3DCD-207F-187C-5CE2DEA9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3" y="0"/>
            <a:ext cx="10515600" cy="907084"/>
          </a:xfrm>
        </p:spPr>
        <p:txBody>
          <a:bodyPr>
            <a:normAutofit/>
          </a:bodyPr>
          <a:lstStyle/>
          <a:p>
            <a:r>
              <a:rPr lang="en-US" b="0">
                <a:latin typeface="Aptos" panose="020B0004020202020204" pitchFamily="34" charset="0"/>
              </a:rPr>
              <a:t>PREPA Risk Adjustment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7920-3427-25CC-6389-0109D43F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F573D-A754-C644-A563-941F5CE3627C}"/>
              </a:ext>
            </a:extLst>
          </p:cNvPr>
          <p:cNvSpPr txBox="1"/>
          <p:nvPr/>
        </p:nvSpPr>
        <p:spPr>
          <a:xfrm>
            <a:off x="575733" y="771557"/>
            <a:ext cx="101855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4"/>
                </a:solidFill>
                <a:latin typeface="Aptos" panose="020B0004020202020204" pitchFamily="34" charset="0"/>
              </a:rPr>
              <a:t>PRA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= (720 − (30 + 12 + 0)) ÷ 720 = 678 ÷ 720 = </a:t>
            </a:r>
            <a:r>
              <a:rPr lang="en-US" sz="3200" b="1">
                <a:solidFill>
                  <a:srgbClr val="86C041"/>
                </a:solidFill>
                <a:latin typeface="Aptos" panose="020B0004020202020204" pitchFamily="34" charset="0"/>
              </a:rPr>
              <a:t>0.9417 </a:t>
            </a:r>
            <a:r>
              <a:rPr lang="en-US" sz="3200" b="1">
                <a:latin typeface="Aptos" panose="020B0004020202020204" pitchFamily="34" charset="0"/>
              </a:rPr>
              <a:t>→ PRA = 94.17%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2267E-6271-1106-39ED-86A3648F3E0E}"/>
              </a:ext>
            </a:extLst>
          </p:cNvPr>
          <p:cNvSpPr txBox="1"/>
          <p:nvPr/>
        </p:nvSpPr>
        <p:spPr>
          <a:xfrm>
            <a:off x="1001110" y="1927634"/>
            <a:ext cx="117343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Scenario: </a:t>
            </a:r>
            <a:r>
              <a:rPr lang="en-US" sz="2400">
                <a:latin typeface="Aptos" panose="020B0004020202020204" pitchFamily="34" charset="0"/>
              </a:rPr>
              <a:t>30-day billing period (720 hrs), Month 9, Year 2 — PREPA-side risk events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solidFill>
                  <a:srgbClr val="0956DF"/>
                </a:solidFill>
                <a:latin typeface="Aptos" panose="020B0004020202020204" pitchFamily="34" charset="0"/>
              </a:rPr>
              <a:t>BP </a:t>
            </a:r>
            <a:r>
              <a:rPr lang="en-US" sz="2400">
                <a:latin typeface="Aptos" panose="020B0004020202020204" pitchFamily="34" charset="0"/>
              </a:rPr>
              <a:t>= 720 hrs      </a:t>
            </a:r>
            <a:r>
              <a:rPr lang="en-US" sz="2400" b="1">
                <a:solidFill>
                  <a:srgbClr val="17214C"/>
                </a:solidFill>
                <a:latin typeface="Aptos" panose="020B0004020202020204" pitchFamily="34" charset="0"/>
              </a:rPr>
              <a:t>GSE </a:t>
            </a:r>
            <a:r>
              <a:rPr lang="en-US" sz="2400">
                <a:latin typeface="Aptos" panose="020B0004020202020204" pitchFamily="34" charset="0"/>
              </a:rPr>
              <a:t>= 30 hrs      </a:t>
            </a:r>
            <a:r>
              <a:rPr lang="en-US" sz="2400" b="1">
                <a:solidFill>
                  <a:srgbClr val="5B9BD5"/>
                </a:solidFill>
                <a:latin typeface="Aptos" panose="020B0004020202020204" pitchFamily="34" charset="0"/>
              </a:rPr>
              <a:t>PFM </a:t>
            </a:r>
            <a:r>
              <a:rPr lang="en-US" sz="2400">
                <a:latin typeface="Aptos" panose="020B0004020202020204" pitchFamily="34" charset="0"/>
              </a:rPr>
              <a:t>= 12 hrs      </a:t>
            </a:r>
            <a:r>
              <a:rPr lang="en-US" sz="2400" b="1">
                <a:solidFill>
                  <a:schemeClr val="accent6"/>
                </a:solidFill>
                <a:latin typeface="Aptos" panose="020B0004020202020204" pitchFamily="34" charset="0"/>
              </a:rPr>
              <a:t>IP </a:t>
            </a:r>
            <a:r>
              <a:rPr lang="en-US" sz="2400">
                <a:latin typeface="Aptos" panose="020B0004020202020204" pitchFamily="34" charset="0"/>
              </a:rPr>
              <a:t>= 0 hrs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Numerator:  </a:t>
            </a:r>
            <a:r>
              <a:rPr lang="en-US" sz="2400">
                <a:latin typeface="Aptos" panose="020B0004020202020204" pitchFamily="34" charset="0"/>
              </a:rPr>
              <a:t>720 − (30 + 12 + 0) = 678 eligible hrs</a:t>
            </a: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Denominator:  </a:t>
            </a:r>
            <a:r>
              <a:rPr lang="en-US" sz="2400">
                <a:latin typeface="Aptos" panose="020B0004020202020204" pitchFamily="34" charset="0"/>
              </a:rPr>
              <a:t>720 hrs (total billing period)</a:t>
            </a: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PRA = 678 ÷ 720 = </a:t>
            </a:r>
            <a:r>
              <a:rPr lang="en-US" sz="2400" b="1">
                <a:solidFill>
                  <a:srgbClr val="86C041"/>
                </a:solidFill>
                <a:latin typeface="Aptos" panose="020B0004020202020204" pitchFamily="34" charset="0"/>
              </a:rPr>
              <a:t>0.9417  (94.17%)</a:t>
            </a:r>
          </a:p>
          <a:p>
            <a:pPr>
              <a:buNone/>
            </a:pPr>
            <a:endParaRPr lang="en-US" sz="240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400" b="1">
                <a:latin typeface="Aptos" panose="020B0004020202020204" pitchFamily="34" charset="0"/>
              </a:rPr>
              <a:t>Effect on MFP:  </a:t>
            </a:r>
            <a:r>
              <a:rPr lang="en-US" sz="2400">
                <a:latin typeface="Aptos" panose="020B0004020202020204" pitchFamily="34" charset="0"/>
              </a:rPr>
              <a:t>monthly payment scaled by </a:t>
            </a:r>
            <a:r>
              <a:rPr lang="en-US" sz="2400" b="1">
                <a:solidFill>
                  <a:srgbClr val="86C041"/>
                </a:solidFill>
                <a:latin typeface="Aptos" panose="020B0004020202020204" pitchFamily="34" charset="0"/>
              </a:rPr>
              <a:t>94.17%</a:t>
            </a:r>
          </a:p>
        </p:txBody>
      </p:sp>
    </p:spTree>
    <p:extLst>
      <p:ext uri="{BB962C8B-B14F-4D97-AF65-F5344CB8AC3E}">
        <p14:creationId xmlns:p14="http://schemas.microsoft.com/office/powerpoint/2010/main" val="1245155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1D56-DE8D-1E00-06D5-378BF6E7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4CAB6-39FD-0B40-0331-305C4497A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27550"/>
            <a:ext cx="457200" cy="365125"/>
          </a:xfrm>
        </p:spPr>
        <p:txBody>
          <a:bodyPr/>
          <a:lstStyle/>
          <a:p>
            <a:fld id="{6D6F0AC1-2ABB-3A49-A67F-8E42243F98C5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2563B-5AEB-7ED6-ABF8-5F1D0B6FBBBD}"/>
              </a:ext>
            </a:extLst>
          </p:cNvPr>
          <p:cNvSpPr txBox="1"/>
          <p:nvPr/>
        </p:nvSpPr>
        <p:spPr>
          <a:xfrm>
            <a:off x="722328" y="338083"/>
            <a:ext cx="11344871" cy="1089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0E5098-B26A-6927-67D8-EC05AFF25423}"/>
              </a:ext>
            </a:extLst>
          </p:cNvPr>
          <p:cNvSpPr txBox="1">
            <a:spLocks/>
          </p:cNvSpPr>
          <p:nvPr/>
        </p:nvSpPr>
        <p:spPr>
          <a:xfrm>
            <a:off x="575733" y="0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r>
              <a:rPr lang="en-US" sz="2800">
                <a:latin typeface="Aptos" panose="020B0004020202020204" pitchFamily="34" charset="0"/>
              </a:rPr>
              <a:t>Monthly Fixed Payment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8A168-0252-38B3-C996-6C58EA4A179E}"/>
              </a:ext>
            </a:extLst>
          </p:cNvPr>
          <p:cNvSpPr txBox="1"/>
          <p:nvPr/>
        </p:nvSpPr>
        <p:spPr>
          <a:xfrm>
            <a:off x="3026133" y="756995"/>
            <a:ext cx="6421821" cy="6463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FAA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x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PRA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DCB307-02D0-50B2-4B80-49026E820482}"/>
              </a:ext>
            </a:extLst>
          </p:cNvPr>
          <p:cNvSpPr txBox="1"/>
          <p:nvPr/>
        </p:nvSpPr>
        <p:spPr>
          <a:xfrm>
            <a:off x="4273581" y="5134513"/>
            <a:ext cx="3926923" cy="1569660"/>
          </a:xfrm>
          <a:prstGeom prst="rect">
            <a:avLst/>
          </a:prstGeom>
          <a:noFill/>
          <a:ln w="19050">
            <a:solidFill>
              <a:srgbClr val="17214C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CPP: </a:t>
            </a:r>
            <a:r>
              <a:rPr lang="en-US" sz="1200">
                <a:latin typeface="Aptos" panose="020B0004020202020204" pitchFamily="34" charset="0"/>
              </a:rPr>
              <a:t>Base price per unit of capacity, set by agreement year (project + interconnection costs)</a:t>
            </a:r>
          </a:p>
          <a:p>
            <a:r>
              <a:rPr lang="en-US" sz="1200" b="1">
                <a:latin typeface="Aptos" panose="020B0004020202020204" pitchFamily="34" charset="0"/>
              </a:rPr>
              <a:t>MCC: </a:t>
            </a:r>
            <a:r>
              <a:rPr lang="en-US" sz="1200">
                <a:latin typeface="Aptos" panose="020B0004020202020204" pitchFamily="34" charset="0"/>
              </a:rPr>
              <a:t>Adjusted capacity the facility can deliver, based on degradation and performance tests</a:t>
            </a:r>
          </a:p>
          <a:p>
            <a:r>
              <a:rPr lang="en-US" sz="1200" b="1">
                <a:latin typeface="Aptos" panose="020B0004020202020204" pitchFamily="34" charset="0"/>
              </a:rPr>
              <a:t>FAA:</a:t>
            </a:r>
            <a:r>
              <a:rPr lang="en-US" sz="1200">
                <a:latin typeface="Aptos" panose="020B0004020202020204" pitchFamily="34" charset="0"/>
              </a:rPr>
              <a:t> % adjustment based on how available the facility was during the billing period</a:t>
            </a:r>
          </a:p>
          <a:p>
            <a:r>
              <a:rPr lang="en-US" sz="1200" b="1">
                <a:latin typeface="Aptos" panose="020B0004020202020204" pitchFamily="34" charset="0"/>
              </a:rPr>
              <a:t>PRA: </a:t>
            </a:r>
            <a:r>
              <a:rPr lang="en-US" sz="1200">
                <a:latin typeface="Aptos" panose="020B0004020202020204" pitchFamily="34" charset="0"/>
              </a:rPr>
              <a:t>% adjustment accounting for downtime caused by PREPA-related risk events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F10AF-BE3C-2E5C-202C-7310F0B0CD27}"/>
              </a:ext>
            </a:extLst>
          </p:cNvPr>
          <p:cNvSpPr txBox="1"/>
          <p:nvPr/>
        </p:nvSpPr>
        <p:spPr>
          <a:xfrm>
            <a:off x="722328" y="2408946"/>
            <a:ext cx="3146990" cy="46166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2400">
                <a:latin typeface="Aptos" panose="020B0004020202020204" pitchFamily="34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=</a:t>
            </a:r>
            <a:r>
              <a:rPr lang="en-US" sz="2400">
                <a:latin typeface="Aptos" panose="020B0004020202020204" pitchFamily="34" charset="0"/>
              </a:rPr>
              <a:t> </a:t>
            </a:r>
            <a:r>
              <a:rPr lang="en-US" sz="240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</a:rPr>
              <a:t>CPPF 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+ </a:t>
            </a:r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CPPPIF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endParaRPr lang="en-US" sz="240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8A321-E52E-36EE-4AB9-BBA12436EF0C}"/>
              </a:ext>
            </a:extLst>
          </p:cNvPr>
          <p:cNvSpPr txBox="1"/>
          <p:nvPr/>
        </p:nvSpPr>
        <p:spPr>
          <a:xfrm>
            <a:off x="2332914" y="3815024"/>
            <a:ext cx="3926923" cy="46166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2400">
                <a:latin typeface="Aptos" panose="020B0004020202020204" pitchFamily="34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= min[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DDE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 / </a:t>
            </a:r>
            <a:r>
              <a:rPr lang="en-US" sz="24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DDD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US" sz="240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TR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]</a:t>
            </a:r>
            <a:endParaRPr lang="en-US" sz="240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2ABCC2-0475-5724-8A05-E82076E730D4}"/>
                  </a:ext>
                </a:extLst>
              </p:cNvPr>
              <p:cNvSpPr txBox="1"/>
              <p:nvPr/>
            </p:nvSpPr>
            <p:spPr>
              <a:xfrm>
                <a:off x="6722206" y="3705732"/>
                <a:ext cx="4953044" cy="680251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FA </a:t>
                </a:r>
                <a:r>
                  <a:rPr lang="en-US" sz="2400">
                    <a:solidFill>
                      <a:srgbClr val="86C041"/>
                    </a:solidFill>
                    <a:latin typeface="Aptos" panose="020B00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– (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chemeClr val="accent4"/>
                            </a:solidFill>
                            <a:latin typeface="Aptos" panose="020B0004020202020204" pitchFamily="34" charset="0"/>
                          </a:rPr>
                          <m:t>PO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chemeClr val="accent2"/>
                            </a:solidFill>
                            <a:latin typeface="Aptos" panose="020B0004020202020204" pitchFamily="34" charset="0"/>
                          </a:rPr>
                          <m:t>UNAV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Aptos" panose="020B0004020202020204" pitchFamily="34" charset="0"/>
                          </a:rPr>
                          <m:t>UNAVPROD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chemeClr val="accent4"/>
                            </a:solidFill>
                            <a:latin typeface="Aptos" panose="020B0004020202020204" pitchFamily="34" charset="0"/>
                          </a:rPr>
                          <m:t>PO</m:t>
                        </m:r>
                      </m:den>
                    </m:f>
                  </m:oMath>
                </a14:m>
                <a:r>
                  <a:rPr lang="en-US" sz="2400">
                    <a:solidFill>
                      <a:srgbClr val="86C041"/>
                    </a:solidFill>
                    <a:latin typeface="Aptos" panose="020B0004020202020204" pitchFamily="34" charset="0"/>
                  </a:rPr>
                  <a:t> </a:t>
                </a:r>
                <a:endParaRPr lang="en-US" sz="2400" b="1">
                  <a:solidFill>
                    <a:srgbClr val="86C04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2ABCC2-0475-5724-8A05-E82076E73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206" y="3705732"/>
                <a:ext cx="4953044" cy="680251"/>
              </a:xfrm>
              <a:prstGeom prst="rect">
                <a:avLst/>
              </a:prstGeom>
              <a:blipFill>
                <a:blip r:embed="rId2"/>
                <a:stretch>
                  <a:fillRect l="-1840" b="-7895"/>
                </a:stretch>
              </a:blip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F666D4-C1F1-601D-3B7E-F84681DE5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848945"/>
              </p:ext>
            </p:extLst>
          </p:nvPr>
        </p:nvGraphicFramePr>
        <p:xfrm>
          <a:off x="507589" y="4509613"/>
          <a:ext cx="357646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233">
                  <a:extLst>
                    <a:ext uri="{9D8B030D-6E8A-4147-A177-3AD203B41FA5}">
                      <a16:colId xmlns:a16="http://schemas.microsoft.com/office/drawing/2014/main" val="3532631680"/>
                    </a:ext>
                  </a:extLst>
                </a:gridCol>
                <a:gridCol w="1788233">
                  <a:extLst>
                    <a:ext uri="{9D8B030D-6E8A-4147-A177-3AD203B41FA5}">
                      <a16:colId xmlns:a16="http://schemas.microsoft.com/office/drawing/2014/main" val="1657222485"/>
                    </a:ext>
                  </a:extLst>
                </a:gridCol>
              </a:tblGrid>
              <a:tr h="27070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Facility Availability (FA)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FAA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75521"/>
                  </a:ext>
                </a:extLst>
              </a:tr>
              <a:tr h="586607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Greater than or equal to ninety-eight percent (98%)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One hundred percent (100%)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01661"/>
                  </a:ext>
                </a:extLst>
              </a:tr>
              <a:tr h="75420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Less than ninety-eight percent (98%) but greater than seventy percent (70%)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One hundred percent (100%) –</a:t>
                      </a:r>
                    </a:p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 [(ninety-eight percent (98%) – FA)] x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114272"/>
                  </a:ext>
                </a:extLst>
              </a:tr>
              <a:tr h="419005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Less than seventy percent (70%)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Zero percent (0%)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7913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8CBD48-BDAA-90F6-88B3-C2E158F15F1B}"/>
                  </a:ext>
                </a:extLst>
              </p:cNvPr>
              <p:cNvSpPr txBox="1"/>
              <p:nvPr/>
            </p:nvSpPr>
            <p:spPr>
              <a:xfrm>
                <a:off x="8105114" y="2301000"/>
                <a:ext cx="3926923" cy="677558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>
                    <a:solidFill>
                      <a:schemeClr val="accent4"/>
                    </a:solidFill>
                    <a:latin typeface="Aptos" panose="020B0004020202020204" pitchFamily="34" charset="0"/>
                  </a:rPr>
                  <a:t>PRA</a:t>
                </a:r>
                <a:r>
                  <a:rPr lang="en-US" sz="2400">
                    <a:latin typeface="Aptos" panose="020B0004020202020204" pitchFamily="34" charset="0"/>
                  </a:rPr>
                  <a:t> </a:t>
                </a:r>
                <a:r>
                  <a:rPr lang="en-US" sz="2400">
                    <a:solidFill>
                      <a:srgbClr val="000000"/>
                    </a:solidFill>
                    <a:latin typeface="Aptos" panose="020B00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– (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17214C"/>
                            </a:solidFill>
                            <a:latin typeface="Aptos" panose="020B0004020202020204" pitchFamily="34" charset="0"/>
                          </a:rPr>
                          <m:t>GSE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5B9BD5"/>
                            </a:solidFill>
                            <a:latin typeface="Aptos" panose="020B0004020202020204" pitchFamily="34" charset="0"/>
                          </a:rPr>
                          <m:t>PFM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chemeClr val="accent6"/>
                            </a:solidFill>
                            <a:latin typeface="Aptos" panose="020B0004020202020204" pitchFamily="34" charset="0"/>
                          </a:rPr>
                          <m:t>IP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rgbClr val="0956DF"/>
                            </a:solidFill>
                            <a:latin typeface="Aptos" panose="020B0004020202020204" pitchFamily="34" charset="0"/>
                          </a:rPr>
                          <m:t>BP</m:t>
                        </m:r>
                      </m:den>
                    </m:f>
                  </m:oMath>
                </a14:m>
                <a:endParaRPr lang="en-US" sz="240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8CBD48-BDAA-90F6-88B3-C2E158F15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114" y="2301000"/>
                <a:ext cx="3926923" cy="677558"/>
              </a:xfrm>
              <a:prstGeom prst="rect">
                <a:avLst/>
              </a:prstGeom>
              <a:blipFill>
                <a:blip r:embed="rId3"/>
                <a:stretch>
                  <a:fillRect l="-2318" b="-6957"/>
                </a:stretch>
              </a:blip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94576F4-3C09-C2F6-C60B-8A53859EA724}"/>
              </a:ext>
            </a:extLst>
          </p:cNvPr>
          <p:cNvSpPr txBox="1"/>
          <p:nvPr/>
        </p:nvSpPr>
        <p:spPr>
          <a:xfrm>
            <a:off x="891366" y="2039614"/>
            <a:ext cx="280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Capability Payment Price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2CEE5D-73AF-5469-91EF-F6E1F1B9431E}"/>
              </a:ext>
            </a:extLst>
          </p:cNvPr>
          <p:cNvSpPr txBox="1"/>
          <p:nvPr/>
        </p:nvSpPr>
        <p:spPr>
          <a:xfrm>
            <a:off x="2803811" y="3419538"/>
            <a:ext cx="333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Monthly Contract Capability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5873CC-962A-770C-AB27-E563CEEA120F}"/>
              </a:ext>
            </a:extLst>
          </p:cNvPr>
          <p:cNvSpPr txBox="1"/>
          <p:nvPr/>
        </p:nvSpPr>
        <p:spPr>
          <a:xfrm>
            <a:off x="8282619" y="3336400"/>
            <a:ext cx="218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Facility Availability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B0F143-DAB9-0B46-0D3C-5B485E0D8E51}"/>
              </a:ext>
            </a:extLst>
          </p:cNvPr>
          <p:cNvSpPr txBox="1"/>
          <p:nvPr/>
        </p:nvSpPr>
        <p:spPr>
          <a:xfrm>
            <a:off x="8740777" y="1931668"/>
            <a:ext cx="2655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PREPA Risk Adjustment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73E660-8AEE-F400-A0E2-F168A18DB151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295823" y="1302570"/>
            <a:ext cx="2559643" cy="73704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29771B-5762-0F00-90B0-D6BB75991B7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4470545" y="1325371"/>
            <a:ext cx="1666734" cy="2094167"/>
          </a:xfrm>
          <a:prstGeom prst="straightConnector1">
            <a:avLst/>
          </a:prstGeom>
          <a:ln w="19050">
            <a:solidFill>
              <a:srgbClr val="43612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F33B0D4-225F-423A-D084-1B09FBC9D693}"/>
              </a:ext>
            </a:extLst>
          </p:cNvPr>
          <p:cNvCxnSpPr>
            <a:cxnSpLocks/>
          </p:cNvCxnSpPr>
          <p:nvPr/>
        </p:nvCxnSpPr>
        <p:spPr>
          <a:xfrm>
            <a:off x="7484493" y="1403326"/>
            <a:ext cx="616567" cy="218759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41E6B83-8683-9D23-64C1-9AC16B4DDC60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8703166" y="1325371"/>
            <a:ext cx="1365409" cy="606297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709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3897-164C-CC21-98BE-E63C540A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FAEE4-DAEB-8A91-9AA3-4CD0B78D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27550"/>
            <a:ext cx="457200" cy="365125"/>
          </a:xfrm>
        </p:spPr>
        <p:txBody>
          <a:bodyPr/>
          <a:lstStyle/>
          <a:p>
            <a:fld id="{6D6F0AC1-2ABB-3A49-A67F-8E42243F98C5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0DDC0-2C7B-06EE-C173-A9C32EE94386}"/>
              </a:ext>
            </a:extLst>
          </p:cNvPr>
          <p:cNvSpPr txBox="1"/>
          <p:nvPr/>
        </p:nvSpPr>
        <p:spPr>
          <a:xfrm>
            <a:off x="722328" y="338083"/>
            <a:ext cx="11344871" cy="10895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0B05D4-0D91-D700-432E-A30043BB1557}"/>
              </a:ext>
            </a:extLst>
          </p:cNvPr>
          <p:cNvSpPr txBox="1">
            <a:spLocks/>
          </p:cNvSpPr>
          <p:nvPr/>
        </p:nvSpPr>
        <p:spPr>
          <a:xfrm>
            <a:off x="575733" y="0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rEavesXLModOT" panose="020B0803060502020204" pitchFamily="34" charset="77"/>
                <a:ea typeface="+mj-ea"/>
                <a:cs typeface="+mj-cs"/>
              </a:defRPr>
            </a:lvl1pPr>
          </a:lstStyle>
          <a:p>
            <a:r>
              <a:rPr lang="en-US" sz="2800">
                <a:latin typeface="Aptos" panose="020B0004020202020204" pitchFamily="34" charset="0"/>
              </a:rPr>
              <a:t>Monthly Fixed Payment Calculation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7F067E-1458-822C-4D7E-E70798CDEAB4}"/>
              </a:ext>
            </a:extLst>
          </p:cNvPr>
          <p:cNvSpPr txBox="1"/>
          <p:nvPr/>
        </p:nvSpPr>
        <p:spPr>
          <a:xfrm>
            <a:off x="1927952" y="728090"/>
            <a:ext cx="10855344" cy="6463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MFP</a:t>
            </a:r>
            <a:r>
              <a:rPr lang="en-US" sz="3600">
                <a:solidFill>
                  <a:srgbClr val="0956DF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$25,096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× </a:t>
            </a:r>
            <a:r>
              <a:rPr lang="en-US" sz="3600">
                <a:solidFill>
                  <a:srgbClr val="436120"/>
                </a:solidFill>
                <a:latin typeface="Aptos" panose="020B0004020202020204" pitchFamily="34" charset="0"/>
              </a:rPr>
              <a:t>50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×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0.99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×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0.9417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= </a:t>
            </a:r>
            <a:r>
              <a:rPr lang="en-US" sz="3600" b="1">
                <a:solidFill>
                  <a:srgbClr val="86C041"/>
                </a:solidFill>
                <a:latin typeface="Aptos" panose="020B0004020202020204" pitchFamily="34" charset="0"/>
              </a:rPr>
              <a:t>$1,170,254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FC94D5-284C-C48A-92AB-459829950BE4}"/>
              </a:ext>
            </a:extLst>
          </p:cNvPr>
          <p:cNvSpPr txBox="1"/>
          <p:nvPr/>
        </p:nvSpPr>
        <p:spPr>
          <a:xfrm>
            <a:off x="4273581" y="5134513"/>
            <a:ext cx="3926923" cy="1569660"/>
          </a:xfrm>
          <a:prstGeom prst="rect">
            <a:avLst/>
          </a:prstGeom>
          <a:noFill/>
          <a:ln w="19050">
            <a:solidFill>
              <a:srgbClr val="17214C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CPP: </a:t>
            </a:r>
            <a:r>
              <a:rPr lang="en-US" sz="1200">
                <a:latin typeface="Aptos" panose="020B0004020202020204" pitchFamily="34" charset="0"/>
              </a:rPr>
              <a:t>Base price per unit of capacity, set by agreement year (project + interconnection costs)</a:t>
            </a:r>
          </a:p>
          <a:p>
            <a:r>
              <a:rPr lang="en-US" sz="1200" b="1">
                <a:latin typeface="Aptos" panose="020B0004020202020204" pitchFamily="34" charset="0"/>
              </a:rPr>
              <a:t>MCC: </a:t>
            </a:r>
            <a:r>
              <a:rPr lang="en-US" sz="1200">
                <a:latin typeface="Aptos" panose="020B0004020202020204" pitchFamily="34" charset="0"/>
              </a:rPr>
              <a:t>Adjusted capacity the facility can deliver, based on degradation and performance tests</a:t>
            </a:r>
          </a:p>
          <a:p>
            <a:r>
              <a:rPr lang="en-US" sz="1200" b="1">
                <a:latin typeface="Aptos" panose="020B0004020202020204" pitchFamily="34" charset="0"/>
              </a:rPr>
              <a:t>FAA:</a:t>
            </a:r>
            <a:r>
              <a:rPr lang="en-US" sz="1200">
                <a:latin typeface="Aptos" panose="020B0004020202020204" pitchFamily="34" charset="0"/>
              </a:rPr>
              <a:t> % adjustment based on how available the facility was during the billing period</a:t>
            </a:r>
          </a:p>
          <a:p>
            <a:r>
              <a:rPr lang="en-US" sz="1200" b="1">
                <a:latin typeface="Aptos" panose="020B0004020202020204" pitchFamily="34" charset="0"/>
              </a:rPr>
              <a:t>PRA: </a:t>
            </a:r>
            <a:r>
              <a:rPr lang="en-US" sz="1200">
                <a:latin typeface="Aptos" panose="020B0004020202020204" pitchFamily="34" charset="0"/>
              </a:rPr>
              <a:t>% adjustment accounting for downtime caused by PREPA-related risk events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C94C4-EE3F-0406-9473-7E48E75FBB20}"/>
              </a:ext>
            </a:extLst>
          </p:cNvPr>
          <p:cNvSpPr txBox="1"/>
          <p:nvPr/>
        </p:nvSpPr>
        <p:spPr>
          <a:xfrm>
            <a:off x="649680" y="2408946"/>
            <a:ext cx="4133140" cy="46166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  <a:latin typeface="Aptos" panose="020B0004020202020204" pitchFamily="34" charset="0"/>
              </a:rPr>
              <a:t>CPP</a:t>
            </a:r>
            <a:r>
              <a:rPr lang="en-US" sz="2400">
                <a:latin typeface="Aptos" panose="020B0004020202020204" pitchFamily="34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= </a:t>
            </a:r>
            <a:r>
              <a:rPr lang="en-US" sz="2000">
                <a:solidFill>
                  <a:srgbClr val="000000"/>
                </a:solidFill>
                <a:latin typeface="Aptos" panose="020B0004020202020204" pitchFamily="34" charset="0"/>
              </a:rPr>
              <a:t>$23,896 + $1,200 = </a:t>
            </a:r>
            <a:r>
              <a:rPr lang="en-US" sz="2000" b="1">
                <a:solidFill>
                  <a:srgbClr val="86C041"/>
                </a:solidFill>
                <a:latin typeface="Aptos" panose="020B0004020202020204" pitchFamily="34" charset="0"/>
              </a:rPr>
              <a:t>$25,096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D8BB6-AB4F-7429-731D-DB825E33F96E}"/>
              </a:ext>
            </a:extLst>
          </p:cNvPr>
          <p:cNvSpPr txBox="1"/>
          <p:nvPr/>
        </p:nvSpPr>
        <p:spPr>
          <a:xfrm>
            <a:off x="2332914" y="3815024"/>
            <a:ext cx="3926923" cy="46166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436120"/>
                </a:solidFill>
                <a:latin typeface="Aptos" panose="020B0004020202020204" pitchFamily="34" charset="0"/>
              </a:rPr>
              <a:t>MCC</a:t>
            </a:r>
            <a:r>
              <a:rPr lang="en-US" sz="2400">
                <a:latin typeface="Aptos" panose="020B0004020202020204" pitchFamily="34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= </a:t>
            </a:r>
            <a:r>
              <a:rPr lang="en-US" sz="2000">
                <a:solidFill>
                  <a:srgbClr val="000000"/>
                </a:solidFill>
                <a:latin typeface="Aptos" panose="020B0004020202020204" pitchFamily="34" charset="0"/>
              </a:rPr>
              <a:t>min[200/4 , 55] = </a:t>
            </a:r>
            <a:r>
              <a:rPr lang="en-US" sz="2000" b="1">
                <a:solidFill>
                  <a:srgbClr val="86C041"/>
                </a:solidFill>
                <a:latin typeface="Aptos" panose="020B0004020202020204" pitchFamily="34" charset="0"/>
              </a:rPr>
              <a:t>50 MW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278F13-DFDA-F9A8-27CC-89F3FDA8A54A}"/>
                  </a:ext>
                </a:extLst>
              </p:cNvPr>
              <p:cNvSpPr txBox="1"/>
              <p:nvPr/>
            </p:nvSpPr>
            <p:spPr>
              <a:xfrm>
                <a:off x="7792776" y="3705732"/>
                <a:ext cx="3333468" cy="888833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FA </a:t>
                </a:r>
                <a:r>
                  <a:rPr lang="en-US" sz="2400">
                    <a:solidFill>
                      <a:srgbClr val="000000"/>
                    </a:solidFill>
                    <a:latin typeface="Aptos" panose="020B00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720 – (10+6+2)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720</m:t>
                        </m:r>
                      </m:den>
                    </m:f>
                  </m:oMath>
                </a14:m>
                <a:r>
                  <a:rPr lang="en-US" sz="200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97.5%</a:t>
                </a:r>
              </a:p>
              <a:p>
                <a:r>
                  <a:rPr lang="en-US" sz="2000">
                    <a:solidFill>
                      <a:srgbClr val="000000"/>
                    </a:solidFill>
                    <a:latin typeface="Aptos" panose="020B0004020202020204" pitchFamily="34" charset="0"/>
                  </a:rPr>
                  <a:t>→ </a:t>
                </a:r>
                <a:r>
                  <a:rPr lang="en-US" sz="2000" b="1">
                    <a:solidFill>
                      <a:srgbClr val="86C041"/>
                    </a:solidFill>
                    <a:latin typeface="Aptos" panose="020B0004020202020204" pitchFamily="34" charset="0"/>
                  </a:rPr>
                  <a:t>FAA = 99.00%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278F13-DFDA-F9A8-27CC-89F3FDA8A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776" y="3705732"/>
                <a:ext cx="3333468" cy="888833"/>
              </a:xfrm>
              <a:prstGeom prst="rect">
                <a:avLst/>
              </a:prstGeom>
              <a:blipFill>
                <a:blip r:embed="rId2"/>
                <a:stretch>
                  <a:fillRect l="-2545" b="-10738"/>
                </a:stretch>
              </a:blip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7EE334-7EDE-69E7-C677-AE6EBEA15486}"/>
              </a:ext>
            </a:extLst>
          </p:cNvPr>
          <p:cNvGraphicFramePr>
            <a:graphicFrameLocks noGrp="1"/>
          </p:cNvGraphicFramePr>
          <p:nvPr/>
        </p:nvGraphicFramePr>
        <p:xfrm>
          <a:off x="507589" y="4509613"/>
          <a:ext cx="357646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233">
                  <a:extLst>
                    <a:ext uri="{9D8B030D-6E8A-4147-A177-3AD203B41FA5}">
                      <a16:colId xmlns:a16="http://schemas.microsoft.com/office/drawing/2014/main" val="3532631680"/>
                    </a:ext>
                  </a:extLst>
                </a:gridCol>
                <a:gridCol w="1788233">
                  <a:extLst>
                    <a:ext uri="{9D8B030D-6E8A-4147-A177-3AD203B41FA5}">
                      <a16:colId xmlns:a16="http://schemas.microsoft.com/office/drawing/2014/main" val="1657222485"/>
                    </a:ext>
                  </a:extLst>
                </a:gridCol>
              </a:tblGrid>
              <a:tr h="27070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Facility Availability (FA)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FAA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75521"/>
                  </a:ext>
                </a:extLst>
              </a:tr>
              <a:tr h="586607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Greater than or equal to ninety-eight percent (98%)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One hundred percent (100%)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701661"/>
                  </a:ext>
                </a:extLst>
              </a:tr>
              <a:tr h="75420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Less than ninety-eight percent (98%) but greater than seventy percent (70%)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One hundred percent (100%) –</a:t>
                      </a:r>
                    </a:p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 [(ninety-eight percent (98%) – FA)] x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114272"/>
                  </a:ext>
                </a:extLst>
              </a:tr>
              <a:tr h="419005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Less than seventy percent (70%)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Aptos" panose="020B0004020202020204" pitchFamily="34" charset="0"/>
                        </a:rPr>
                        <a:t>Zero percent (0%)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7913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0D91BF-D94C-2D64-1D5B-3186A66095A7}"/>
                  </a:ext>
                </a:extLst>
              </p:cNvPr>
              <p:cNvSpPr txBox="1"/>
              <p:nvPr/>
            </p:nvSpPr>
            <p:spPr>
              <a:xfrm>
                <a:off x="8490386" y="2311816"/>
                <a:ext cx="3576813" cy="888833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>
                    <a:solidFill>
                      <a:schemeClr val="accent4"/>
                    </a:solidFill>
                    <a:latin typeface="Aptos" panose="020B0004020202020204" pitchFamily="34" charset="0"/>
                  </a:rPr>
                  <a:t>PRA</a:t>
                </a:r>
                <a:r>
                  <a:rPr lang="en-US" sz="2400">
                    <a:latin typeface="Aptos" panose="020B0004020202020204" pitchFamily="34" charset="0"/>
                  </a:rPr>
                  <a:t> </a:t>
                </a:r>
                <a:r>
                  <a:rPr lang="en-US" sz="2400">
                    <a:solidFill>
                      <a:srgbClr val="000000"/>
                    </a:solidFill>
                    <a:latin typeface="Aptos" panose="020B00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720 – (30+12+0)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</a:rPr>
                          <m:t>720</m:t>
                        </m:r>
                      </m:den>
                    </m:f>
                  </m:oMath>
                </a14:m>
                <a:r>
                  <a:rPr lang="en-US" sz="200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</a:t>
                </a:r>
                <a:r>
                  <a:rPr lang="en-US" sz="2000" b="1">
                    <a:solidFill>
                      <a:srgbClr val="86C041"/>
                    </a:solidFill>
                    <a:latin typeface="Aptos" panose="020B0004020202020204" pitchFamily="34" charset="0"/>
                  </a:rPr>
                  <a:t>94.17%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0D91BF-D94C-2D64-1D5B-3186A6609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386" y="2311816"/>
                <a:ext cx="3576813" cy="888833"/>
              </a:xfrm>
              <a:prstGeom prst="rect">
                <a:avLst/>
              </a:prstGeom>
              <a:blipFill>
                <a:blip r:embed="rId3"/>
                <a:stretch>
                  <a:fillRect l="-2542" b="-10738"/>
                </a:stretch>
              </a:blip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4A4263F-C7DA-36EC-B490-BD68D7B2810C}"/>
              </a:ext>
            </a:extLst>
          </p:cNvPr>
          <p:cNvSpPr txBox="1"/>
          <p:nvPr/>
        </p:nvSpPr>
        <p:spPr>
          <a:xfrm>
            <a:off x="891366" y="2039614"/>
            <a:ext cx="280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Capability Payment Price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FE3B38-C08A-1ECF-A60B-6B0A94106A2A}"/>
              </a:ext>
            </a:extLst>
          </p:cNvPr>
          <p:cNvSpPr txBox="1"/>
          <p:nvPr/>
        </p:nvSpPr>
        <p:spPr>
          <a:xfrm>
            <a:off x="2803811" y="3419538"/>
            <a:ext cx="333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Monthly Contract Capability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2CE090-AF13-B2F5-2C1C-475E8F67E86E}"/>
              </a:ext>
            </a:extLst>
          </p:cNvPr>
          <p:cNvSpPr txBox="1"/>
          <p:nvPr/>
        </p:nvSpPr>
        <p:spPr>
          <a:xfrm>
            <a:off x="8282619" y="3336400"/>
            <a:ext cx="218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Facility Availability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FBE784-8A4C-7AC1-C7E3-BF15AEBE2867}"/>
              </a:ext>
            </a:extLst>
          </p:cNvPr>
          <p:cNvSpPr txBox="1"/>
          <p:nvPr/>
        </p:nvSpPr>
        <p:spPr>
          <a:xfrm>
            <a:off x="8740777" y="1931668"/>
            <a:ext cx="2655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PREPA Risk Adjustment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9BA06F-320D-E2CD-E730-2E324F1D34B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295823" y="1344954"/>
            <a:ext cx="1866410" cy="69466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A012A9-8D2E-7BD9-2DF1-7C2248E546DB}"/>
              </a:ext>
            </a:extLst>
          </p:cNvPr>
          <p:cNvCxnSpPr>
            <a:cxnSpLocks/>
          </p:cNvCxnSpPr>
          <p:nvPr/>
        </p:nvCxnSpPr>
        <p:spPr>
          <a:xfrm flipH="1">
            <a:off x="4551559" y="1334923"/>
            <a:ext cx="1110402" cy="2084615"/>
          </a:xfrm>
          <a:prstGeom prst="straightConnector1">
            <a:avLst/>
          </a:prstGeom>
          <a:ln w="19050">
            <a:solidFill>
              <a:srgbClr val="43612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DB24FB-6C39-DA66-4D72-2B545DBE34F8}"/>
              </a:ext>
            </a:extLst>
          </p:cNvPr>
          <p:cNvCxnSpPr>
            <a:cxnSpLocks/>
          </p:cNvCxnSpPr>
          <p:nvPr/>
        </p:nvCxnSpPr>
        <p:spPr>
          <a:xfrm>
            <a:off x="6954821" y="1412167"/>
            <a:ext cx="1146239" cy="217875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1A7E828-8501-258A-2E08-A6C50FDAEFF4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8703166" y="1325371"/>
            <a:ext cx="1365409" cy="606297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3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90DC-C5F1-C6FC-1322-88661D79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2740-EEF4-A5C4-F63A-5F59A4DD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2" y="0"/>
            <a:ext cx="10882259" cy="907084"/>
          </a:xfrm>
        </p:spPr>
        <p:txBody>
          <a:bodyPr>
            <a:normAutofit/>
          </a:bodyPr>
          <a:lstStyle/>
          <a:p>
            <a:r>
              <a:rPr lang="en-US" sz="2800">
                <a:latin typeface="Aptos" panose="020B0004020202020204" pitchFamily="34" charset="0"/>
              </a:rPr>
              <a:t>Key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FDE2A-38D9-CAB8-B201-C58744A0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2E2B7-4237-357F-8E3B-152E9B4C165C}"/>
              </a:ext>
            </a:extLst>
          </p:cNvPr>
          <p:cNvSpPr txBox="1"/>
          <p:nvPr/>
        </p:nvSpPr>
        <p:spPr>
          <a:xfrm>
            <a:off x="575732" y="907084"/>
            <a:ext cx="11172320" cy="420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The MFP is PREPA’s payment to the plant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Availability (FAA) is the biggest lever LUMA can influence, staying above 98% protects the full payment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The MCC degrades over time, so performance tests matter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PREPA Risk events protect the plant from losing payment for things outside its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The worked example shows how small dips in availability/capability reduce the payment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ptos" panose="020B0004020202020204" pitchFamily="34" charset="0"/>
              </a:rPr>
              <a:t>Facility Availability Adjustment (FAA) has three tiers: FA </a:t>
            </a:r>
            <a:r>
              <a:rPr lang="en-US" sz="2000">
                <a:solidFill>
                  <a:srgbClr val="031E4E"/>
                </a:solidFill>
                <a:latin typeface="Aptos" panose="020B0004020202020204" pitchFamily="34" charset="0"/>
              </a:rPr>
              <a:t>≥ 98% -&gt; 100%; 70-98% -&gt; partial (2x penalty); &lt; 70% -&gt; zero payment. Scheduled outages capped at 160 </a:t>
            </a:r>
            <a:r>
              <a:rPr lang="en-US" sz="2000" err="1">
                <a:solidFill>
                  <a:srgbClr val="031E4E"/>
                </a:solidFill>
                <a:latin typeface="Aptos" panose="020B0004020202020204" pitchFamily="34" charset="0"/>
              </a:rPr>
              <a:t>hrs</a:t>
            </a:r>
            <a:r>
              <a:rPr lang="en-US" sz="2000">
                <a:solidFill>
                  <a:srgbClr val="031E4E"/>
                </a:solidFill>
                <a:latin typeface="Aptos" panose="020B0004020202020204" pitchFamily="34" charset="0"/>
              </a:rPr>
              <a:t>/yr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10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1a4694">
      <a:dk1>
        <a:srgbClr val="031E4E"/>
      </a:dk1>
      <a:lt1>
        <a:srgbClr val="FFFFFF"/>
      </a:lt1>
      <a:dk2>
        <a:srgbClr val="1A4693"/>
      </a:dk2>
      <a:lt2>
        <a:srgbClr val="E7E6E6"/>
      </a:lt2>
      <a:accent1>
        <a:srgbClr val="86C041"/>
      </a:accent1>
      <a:accent2>
        <a:srgbClr val="44B9EF"/>
      </a:accent2>
      <a:accent3>
        <a:srgbClr val="A5A5A5"/>
      </a:accent3>
      <a:accent4>
        <a:srgbClr val="D36D00"/>
      </a:accent4>
      <a:accent5>
        <a:srgbClr val="5B9BD5"/>
      </a:accent5>
      <a:accent6>
        <a:srgbClr val="86C041"/>
      </a:accent6>
      <a:hlink>
        <a:srgbClr val="D36D0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6CC65A5-6EAA-3540-BFBA-80AA957CC495}" vid="{2E8B1142-DEDE-EF47-A46C-928D80CF39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166E185-D676-4C20-842A-B1B564FB5D2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194cfdc-77ce-461f-a60d-daab746cd07d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7B86E15-2C43-41EF-A421-F1289A8756F4}">
  <we:reference id="wa200010215" version="2.0.0.0" store="en-US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40de4d-4b63-4c6e-a09b-55fa4b25281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6FACD3B66FDF418D56EF64E50F6CC9" ma:contentTypeVersion="7" ma:contentTypeDescription="Create a new document." ma:contentTypeScope="" ma:versionID="76198795184137516420b163fad61122">
  <xsd:schema xmlns:xsd="http://www.w3.org/2001/XMLSchema" xmlns:xs="http://www.w3.org/2001/XMLSchema" xmlns:p="http://schemas.microsoft.com/office/2006/metadata/properties" xmlns:ns3="2f40de4d-4b63-4c6e-a09b-55fa4b25281a" xmlns:ns4="501a87ce-7bc5-4bd4-acdd-f574e1671414" targetNamespace="http://schemas.microsoft.com/office/2006/metadata/properties" ma:root="true" ma:fieldsID="fd4601a202a162abe1f769b47c75cae3" ns3:_="" ns4:_="">
    <xsd:import namespace="2f40de4d-4b63-4c6e-a09b-55fa4b25281a"/>
    <xsd:import namespace="501a87ce-7bc5-4bd4-acdd-f574e16714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0de4d-4b63-4c6e-a09b-55fa4b2528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1a87ce-7bc5-4bd4-acdd-f574e167141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C1BD01-6703-4FB4-AF0B-5D8CDCA23D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2C6322-2FBD-45AD-B2D0-949EDC73C182}">
  <ds:schemaRefs>
    <ds:schemaRef ds:uri="2f40de4d-4b63-4c6e-a09b-55fa4b25281a"/>
    <ds:schemaRef ds:uri="501a87ce-7bc5-4bd4-acdd-f574e16714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E235910-D2EA-4724-93B6-B4BA35210C3C}">
  <ds:schemaRefs>
    <ds:schemaRef ds:uri="2f40de4d-4b63-4c6e-a09b-55fa4b25281a"/>
    <ds:schemaRef ds:uri="501a87ce-7bc5-4bd4-acdd-f574e16714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1970</Words>
  <PresentationFormat>Widescreen</PresentationFormat>
  <Paragraphs>230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Cambria Math</vt:lpstr>
      <vt:lpstr>Franklin Gothic Book</vt:lpstr>
      <vt:lpstr>MrEavesXLModOT</vt:lpstr>
      <vt:lpstr>Office Theme</vt:lpstr>
      <vt:lpstr>        Salinas BESS Compensation Calculation</vt:lpstr>
      <vt:lpstr>Table of Contents</vt:lpstr>
      <vt:lpstr>Executive Summary – Monthly Payment (Energy Storage Services)</vt:lpstr>
      <vt:lpstr>Executive Summary – Monthly Fixed Payment (MFP)</vt:lpstr>
      <vt:lpstr>BESS - Monthly Payment Formula</vt:lpstr>
      <vt:lpstr>Monthly Fixed Payment</vt:lpstr>
      <vt:lpstr>Monthly Fixed Payment</vt:lpstr>
      <vt:lpstr>Capability Payment Price </vt:lpstr>
      <vt:lpstr>Capability Payment Price </vt:lpstr>
      <vt:lpstr>Monthly Contract Capability</vt:lpstr>
      <vt:lpstr>Monthly Contract Capability</vt:lpstr>
      <vt:lpstr>Monthly Contract Capability Calculation Example</vt:lpstr>
      <vt:lpstr>Facility Availability Adjustment</vt:lpstr>
      <vt:lpstr>Facility Availability Adjustment</vt:lpstr>
      <vt:lpstr>Facility Availability Calculation</vt:lpstr>
      <vt:lpstr>Facility Availability Calculation Example</vt:lpstr>
      <vt:lpstr>Facility Availability Adjustment</vt:lpstr>
      <vt:lpstr>Facility Availability Adjustment</vt:lpstr>
      <vt:lpstr>PREPA Risk Adjustment</vt:lpstr>
      <vt:lpstr>PowerPoint Presentation</vt:lpstr>
      <vt:lpstr>PowerPoint Presentation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2023-05-16T11:52:32Z</cp:lastPrinted>
  <dcterms:created xsi:type="dcterms:W3CDTF">2020-03-10T18:21:40Z</dcterms:created>
  <dcterms:modified xsi:type="dcterms:W3CDTF">2026-05-28T12:54:00Z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0x010100166FACD3B66FDF418D56EF64E50F6CC9</vt:lpwstr>
  </property>
</Properties>
</file>